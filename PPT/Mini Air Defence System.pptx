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8288000" cy="10287000"/>
  <p:notesSz cx="6858000" cy="9144000"/>
  <p:embeddedFontLst>
    <p:embeddedFont>
      <p:font typeface="Bricolage Grotesque" panose="020B0604020202020204" charset="0"/>
      <p:regular r:id="rId26"/>
    </p:embeddedFont>
    <p:embeddedFont>
      <p:font typeface="Bricolage Grotesque Bold" panose="020B0604020202020204" charset="0"/>
      <p:regular r:id="rId27"/>
    </p:embeddedFont>
    <p:embeddedFont>
      <p:font typeface="Canva Sans" panose="020B0604020202020204" charset="0"/>
      <p:regular r:id="rId28"/>
    </p:embeddedFont>
    <p:embeddedFont>
      <p:font typeface="IBM Plex Serif" panose="02060503050406000203" pitchFamily="18"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705422-4E2A-47DB-B561-21B7A98A172D}" v="12" dt="2026-09-29T10:03:06.9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890314" y="-31710"/>
            <a:ext cx="7397686" cy="1887776"/>
          </a:xfrm>
          <a:custGeom>
            <a:avLst/>
            <a:gdLst/>
            <a:ahLst/>
            <a:cxnLst/>
            <a:rect l="l" t="t" r="r" b="b"/>
            <a:pathLst>
              <a:path w="7397686" h="1887776">
                <a:moveTo>
                  <a:pt x="0" y="0"/>
                </a:moveTo>
                <a:lnTo>
                  <a:pt x="7397686" y="0"/>
                </a:lnTo>
                <a:lnTo>
                  <a:pt x="7397686" y="1887776"/>
                </a:lnTo>
                <a:lnTo>
                  <a:pt x="0" y="1887776"/>
                </a:lnTo>
                <a:lnTo>
                  <a:pt x="0" y="0"/>
                </a:lnTo>
                <a:close/>
              </a:path>
            </a:pathLst>
          </a:custGeom>
          <a:blipFill>
            <a:blip r:embed="rId2"/>
            <a:stretch>
              <a:fillRect t="-943" b="-943"/>
            </a:stretch>
          </a:blipFill>
        </p:spPr>
      </p:sp>
      <p:grpSp>
        <p:nvGrpSpPr>
          <p:cNvPr id="3" name="Group 3"/>
          <p:cNvGrpSpPr/>
          <p:nvPr/>
        </p:nvGrpSpPr>
        <p:grpSpPr>
          <a:xfrm>
            <a:off x="-6185" y="9607550"/>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288388" y="-81240"/>
            <a:ext cx="1103344" cy="4832310"/>
            <a:chOff x="0" y="0"/>
            <a:chExt cx="290593" cy="1272707"/>
          </a:xfrm>
        </p:grpSpPr>
        <p:sp>
          <p:nvSpPr>
            <p:cNvPr id="7" name="Freeform 7"/>
            <p:cNvSpPr/>
            <p:nvPr/>
          </p:nvSpPr>
          <p:spPr>
            <a:xfrm>
              <a:off x="0" y="0"/>
              <a:ext cx="290593" cy="1272707"/>
            </a:xfrm>
            <a:custGeom>
              <a:avLst/>
              <a:gdLst/>
              <a:ahLst/>
              <a:cxnLst/>
              <a:rect l="l" t="t" r="r" b="b"/>
              <a:pathLst>
                <a:path w="290593" h="1272707">
                  <a:moveTo>
                    <a:pt x="145296" y="0"/>
                  </a:moveTo>
                  <a:lnTo>
                    <a:pt x="145296" y="0"/>
                  </a:lnTo>
                  <a:cubicBezTo>
                    <a:pt x="225541" y="0"/>
                    <a:pt x="290593" y="65051"/>
                    <a:pt x="290593" y="145296"/>
                  </a:cubicBezTo>
                  <a:lnTo>
                    <a:pt x="290593" y="1127411"/>
                  </a:lnTo>
                  <a:cubicBezTo>
                    <a:pt x="290593" y="1207656"/>
                    <a:pt x="225541" y="1272707"/>
                    <a:pt x="145296" y="1272707"/>
                  </a:cubicBezTo>
                  <a:lnTo>
                    <a:pt x="145296" y="1272707"/>
                  </a:lnTo>
                  <a:cubicBezTo>
                    <a:pt x="65051" y="1272707"/>
                    <a:pt x="0" y="1207656"/>
                    <a:pt x="0" y="1127411"/>
                  </a:cubicBezTo>
                  <a:lnTo>
                    <a:pt x="0" y="145296"/>
                  </a:lnTo>
                  <a:cubicBezTo>
                    <a:pt x="0" y="65051"/>
                    <a:pt x="65051" y="0"/>
                    <a:pt x="145296" y="0"/>
                  </a:cubicBezTo>
                  <a:close/>
                </a:path>
              </a:pathLst>
            </a:custGeom>
            <a:solidFill>
              <a:srgbClr val="004E7A"/>
            </a:solidFill>
          </p:spPr>
        </p:sp>
        <p:sp>
          <p:nvSpPr>
            <p:cNvPr id="8" name="TextBox 8"/>
            <p:cNvSpPr txBox="1"/>
            <p:nvPr/>
          </p:nvSpPr>
          <p:spPr>
            <a:xfrm>
              <a:off x="0" y="-47625"/>
              <a:ext cx="290593" cy="1320332"/>
            </a:xfrm>
            <a:prstGeom prst="rect">
              <a:avLst/>
            </a:prstGeom>
          </p:spPr>
          <p:txBody>
            <a:bodyPr lIns="50800" tIns="50800" rIns="50800" bIns="50800" rtlCol="0" anchor="ctr"/>
            <a:lstStyle/>
            <a:p>
              <a:pPr algn="ctr">
                <a:lnSpc>
                  <a:spcPts val="2800"/>
                </a:lnSpc>
              </a:pPr>
              <a:endParaRPr/>
            </a:p>
          </p:txBody>
        </p:sp>
      </p:grpSp>
      <p:sp>
        <p:nvSpPr>
          <p:cNvPr id="9" name="TextBox 9"/>
          <p:cNvSpPr txBox="1"/>
          <p:nvPr/>
        </p:nvSpPr>
        <p:spPr>
          <a:xfrm>
            <a:off x="654140" y="2814075"/>
            <a:ext cx="17240977" cy="1678305"/>
          </a:xfrm>
          <a:prstGeom prst="rect">
            <a:avLst/>
          </a:prstGeom>
        </p:spPr>
        <p:txBody>
          <a:bodyPr lIns="0" tIns="0" rIns="0" bIns="0" rtlCol="0" anchor="t">
            <a:spAutoFit/>
          </a:bodyPr>
          <a:lstStyle/>
          <a:p>
            <a:pPr algn="ctr">
              <a:lnSpc>
                <a:spcPts val="6720"/>
              </a:lnSpc>
            </a:pPr>
            <a:r>
              <a:rPr lang="en-US" sz="4800" b="1">
                <a:solidFill>
                  <a:srgbClr val="36211B"/>
                </a:solidFill>
                <a:latin typeface="Bricolage Grotesque Bold"/>
                <a:ea typeface="Bricolage Grotesque Bold"/>
                <a:cs typeface="Bricolage Grotesque Bold"/>
                <a:sym typeface="Bricolage Grotesque Bold"/>
              </a:rPr>
              <a:t>25AIC115 Introduction to Cyber Physical Systems and Control Theory – 2</a:t>
            </a:r>
          </a:p>
        </p:txBody>
      </p:sp>
      <p:sp>
        <p:nvSpPr>
          <p:cNvPr id="12" name="TextBox 12"/>
          <p:cNvSpPr txBox="1"/>
          <p:nvPr/>
        </p:nvSpPr>
        <p:spPr>
          <a:xfrm>
            <a:off x="132117" y="6583408"/>
            <a:ext cx="18026244" cy="880110"/>
          </a:xfrm>
          <a:prstGeom prst="rect">
            <a:avLst/>
          </a:prstGeom>
        </p:spPr>
        <p:txBody>
          <a:bodyPr lIns="0" tIns="0" rIns="0" bIns="0" rtlCol="0" anchor="t">
            <a:spAutoFit/>
          </a:bodyPr>
          <a:lstStyle/>
          <a:p>
            <a:pPr algn="ctr">
              <a:lnSpc>
                <a:spcPts val="7139"/>
              </a:lnSpc>
            </a:pPr>
            <a:r>
              <a:rPr lang="en-US" sz="5100" b="1">
                <a:solidFill>
                  <a:srgbClr val="000000"/>
                </a:solidFill>
                <a:latin typeface="Bricolage Grotesque Bold"/>
                <a:ea typeface="Bricolage Grotesque Bold"/>
                <a:cs typeface="Bricolage Grotesque Bold"/>
                <a:sym typeface="Bricolage Grotesque Bold"/>
              </a:rPr>
              <a:t> “Mini Air Defence System”</a:t>
            </a:r>
          </a:p>
        </p:txBody>
      </p:sp>
      <p:sp>
        <p:nvSpPr>
          <p:cNvPr id="13" name="TextBox 13"/>
          <p:cNvSpPr txBox="1"/>
          <p:nvPr/>
        </p:nvSpPr>
        <p:spPr>
          <a:xfrm>
            <a:off x="-4809556" y="5642248"/>
            <a:ext cx="18026244" cy="695959"/>
          </a:xfrm>
          <a:prstGeom prst="rect">
            <a:avLst/>
          </a:prstGeom>
        </p:spPr>
        <p:txBody>
          <a:bodyPr lIns="0" tIns="0" rIns="0" bIns="0" rtlCol="0" anchor="t">
            <a:spAutoFit/>
          </a:bodyPr>
          <a:lstStyle/>
          <a:p>
            <a:pPr algn="ctr">
              <a:lnSpc>
                <a:spcPts val="5740"/>
              </a:lnSpc>
            </a:pPr>
            <a:r>
              <a:rPr lang="en-US" sz="4100" b="1">
                <a:solidFill>
                  <a:srgbClr val="000000"/>
                </a:solidFill>
                <a:latin typeface="Bricolage Grotesque Bold"/>
                <a:ea typeface="Bricolage Grotesque Bold"/>
                <a:cs typeface="Bricolage Grotesque Bold"/>
                <a:sym typeface="Bricolage Grotesque Bold"/>
              </a:rPr>
              <a:t>PROJECT TITLE:</a:t>
            </a:r>
          </a:p>
        </p:txBody>
      </p:sp>
      <p:sp>
        <p:nvSpPr>
          <p:cNvPr id="14" name="TextBox 1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a:p>
              <a:pPr algn="ctr">
                <a:lnSpc>
                  <a:spcPts val="2800"/>
                </a:lnSpc>
              </a:pPr>
              <a:endParaRPr/>
            </a:p>
          </p:txBody>
        </p:sp>
      </p:grpSp>
      <p:grpSp>
        <p:nvGrpSpPr>
          <p:cNvPr id="6" name="Group 6"/>
          <p:cNvGrpSpPr/>
          <p:nvPr/>
        </p:nvGrpSpPr>
        <p:grpSpPr>
          <a:xfrm>
            <a:off x="4404549" y="9725746"/>
            <a:ext cx="14052410" cy="873514"/>
            <a:chOff x="0" y="0"/>
            <a:chExt cx="3701046" cy="230061"/>
          </a:xfrm>
        </p:grpSpPr>
        <p:sp>
          <p:nvSpPr>
            <p:cNvPr id="7" name="Freeform 7"/>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8" name="TextBox 8"/>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9" name="TextBox 9"/>
          <p:cNvSpPr txBox="1"/>
          <p:nvPr/>
        </p:nvSpPr>
        <p:spPr>
          <a:xfrm>
            <a:off x="19228" y="838200"/>
            <a:ext cx="15344895" cy="1651635"/>
          </a:xfrm>
          <a:prstGeom prst="rect">
            <a:avLst/>
          </a:prstGeom>
        </p:spPr>
        <p:txBody>
          <a:bodyPr lIns="0" tIns="0" rIns="0" bIns="0" rtlCol="0" anchor="t">
            <a:spAutoFit/>
          </a:bodyPr>
          <a:lstStyle/>
          <a:p>
            <a:pPr algn="ctr">
              <a:lnSpc>
                <a:spcPts val="13439"/>
              </a:lnSpc>
              <a:spcBef>
                <a:spcPct val="0"/>
              </a:spcBef>
            </a:pPr>
            <a:r>
              <a:rPr lang="en-US" sz="9600">
                <a:solidFill>
                  <a:srgbClr val="000000"/>
                </a:solidFill>
                <a:latin typeface="Bricolage Grotesque"/>
                <a:ea typeface="Bricolage Grotesque"/>
                <a:cs typeface="Bricolage Grotesque"/>
                <a:sym typeface="Bricolage Grotesque"/>
              </a:rPr>
              <a:t>Contents of presentation</a:t>
            </a:r>
          </a:p>
        </p:txBody>
      </p:sp>
      <p:sp>
        <p:nvSpPr>
          <p:cNvPr id="10" name="Freeform 10"/>
          <p:cNvSpPr/>
          <p:nvPr/>
        </p:nvSpPr>
        <p:spPr>
          <a:xfrm>
            <a:off x="2508356" y="38952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11" name="TextBox 11"/>
          <p:cNvSpPr txBox="1"/>
          <p:nvPr/>
        </p:nvSpPr>
        <p:spPr>
          <a:xfrm>
            <a:off x="1028700" y="2794635"/>
            <a:ext cx="9391516" cy="5913120"/>
          </a:xfrm>
          <a:prstGeom prst="rect">
            <a:avLst/>
          </a:prstGeom>
        </p:spPr>
        <p:txBody>
          <a:bodyPr lIns="0" tIns="0" rIns="0" bIns="0" rtlCol="0" anchor="t">
            <a:spAutoFit/>
          </a:bodyPr>
          <a:lstStyle/>
          <a:p>
            <a:pPr algn="l">
              <a:lnSpc>
                <a:spcPts val="5880"/>
              </a:lnSpc>
            </a:pPr>
            <a:r>
              <a:rPr lang="en-US" sz="4200">
                <a:solidFill>
                  <a:srgbClr val="000000"/>
                </a:solidFill>
                <a:latin typeface="Canva Sans"/>
                <a:ea typeface="Canva Sans"/>
                <a:cs typeface="Canva Sans"/>
                <a:sym typeface="Canva Sans"/>
              </a:rPr>
              <a:t>1. Introduction</a:t>
            </a:r>
          </a:p>
          <a:p>
            <a:pPr algn="l">
              <a:lnSpc>
                <a:spcPts val="5880"/>
              </a:lnSpc>
            </a:pPr>
            <a:r>
              <a:rPr lang="en-US" sz="4200">
                <a:solidFill>
                  <a:srgbClr val="000000"/>
                </a:solidFill>
                <a:latin typeface="Canva Sans"/>
                <a:ea typeface="Canva Sans"/>
                <a:cs typeface="Canva Sans"/>
                <a:sym typeface="Canva Sans"/>
              </a:rPr>
              <a:t>2. Recap</a:t>
            </a:r>
          </a:p>
          <a:p>
            <a:pPr algn="l">
              <a:lnSpc>
                <a:spcPts val="5880"/>
              </a:lnSpc>
            </a:pPr>
            <a:r>
              <a:rPr lang="en-US" sz="4200">
                <a:solidFill>
                  <a:srgbClr val="000000"/>
                </a:solidFill>
                <a:latin typeface="Canva Sans"/>
                <a:ea typeface="Canva Sans"/>
                <a:cs typeface="Canva Sans"/>
                <a:sym typeface="Canva Sans"/>
              </a:rPr>
              <a:t>3. Problem Statement</a:t>
            </a:r>
          </a:p>
          <a:p>
            <a:pPr algn="l">
              <a:lnSpc>
                <a:spcPts val="5880"/>
              </a:lnSpc>
            </a:pPr>
            <a:r>
              <a:rPr lang="en-US" sz="4200">
                <a:solidFill>
                  <a:srgbClr val="000000"/>
                </a:solidFill>
                <a:latin typeface="Canva Sans"/>
                <a:ea typeface="Canva Sans"/>
                <a:cs typeface="Canva Sans"/>
                <a:sym typeface="Canva Sans"/>
              </a:rPr>
              <a:t>4. Objectives</a:t>
            </a:r>
          </a:p>
          <a:p>
            <a:pPr algn="l">
              <a:lnSpc>
                <a:spcPts val="5880"/>
              </a:lnSpc>
            </a:pPr>
            <a:r>
              <a:rPr lang="en-US" sz="4200">
                <a:solidFill>
                  <a:srgbClr val="000000"/>
                </a:solidFill>
                <a:latin typeface="Canva Sans"/>
                <a:ea typeface="Canva Sans"/>
                <a:cs typeface="Canva Sans"/>
                <a:sym typeface="Canva Sans"/>
              </a:rPr>
              <a:t>5. System Architecture</a:t>
            </a:r>
          </a:p>
          <a:p>
            <a:pPr algn="l">
              <a:lnSpc>
                <a:spcPts val="5880"/>
              </a:lnSpc>
            </a:pPr>
            <a:r>
              <a:rPr lang="en-US" sz="4200">
                <a:solidFill>
                  <a:srgbClr val="000000"/>
                </a:solidFill>
                <a:latin typeface="Canva Sans"/>
                <a:ea typeface="Canva Sans"/>
                <a:cs typeface="Canva Sans"/>
                <a:sym typeface="Canva Sans"/>
              </a:rPr>
              <a:t>6. Hardware Components Used</a:t>
            </a:r>
          </a:p>
          <a:p>
            <a:pPr algn="l">
              <a:lnSpc>
                <a:spcPts val="5880"/>
              </a:lnSpc>
            </a:pPr>
            <a:r>
              <a:rPr lang="en-US" sz="4200">
                <a:solidFill>
                  <a:srgbClr val="000000"/>
                </a:solidFill>
                <a:latin typeface="Canva Sans"/>
                <a:ea typeface="Canva Sans"/>
                <a:cs typeface="Canva Sans"/>
                <a:sym typeface="Canva Sans"/>
              </a:rPr>
              <a:t>7. Software Tools Used</a:t>
            </a:r>
          </a:p>
          <a:p>
            <a:pPr algn="l">
              <a:lnSpc>
                <a:spcPts val="5880"/>
              </a:lnSpc>
            </a:pPr>
            <a:r>
              <a:rPr lang="en-US" sz="4200">
                <a:solidFill>
                  <a:srgbClr val="000000"/>
                </a:solidFill>
                <a:latin typeface="Canva Sans"/>
                <a:ea typeface="Canva Sans"/>
                <a:cs typeface="Canva Sans"/>
                <a:sym typeface="Canva Sans"/>
              </a:rPr>
              <a:t>8. Methodology</a:t>
            </a:r>
          </a:p>
        </p:txBody>
      </p:sp>
      <p:sp>
        <p:nvSpPr>
          <p:cNvPr id="12" name="Freeform 12"/>
          <p:cNvSpPr/>
          <p:nvPr/>
        </p:nvSpPr>
        <p:spPr>
          <a:xfrm>
            <a:off x="2508356" y="38952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13" name="TextBox 13"/>
          <p:cNvSpPr txBox="1"/>
          <p:nvPr/>
        </p:nvSpPr>
        <p:spPr>
          <a:xfrm>
            <a:off x="9403570" y="2794635"/>
            <a:ext cx="8323061" cy="3684270"/>
          </a:xfrm>
          <a:prstGeom prst="rect">
            <a:avLst/>
          </a:prstGeom>
        </p:spPr>
        <p:txBody>
          <a:bodyPr lIns="0" tIns="0" rIns="0" bIns="0" rtlCol="0" anchor="t">
            <a:spAutoFit/>
          </a:bodyPr>
          <a:lstStyle/>
          <a:p>
            <a:pPr algn="l">
              <a:lnSpc>
                <a:spcPts val="5880"/>
              </a:lnSpc>
            </a:pPr>
            <a:r>
              <a:rPr lang="en-US" sz="4200">
                <a:solidFill>
                  <a:srgbClr val="000000"/>
                </a:solidFill>
                <a:latin typeface="Canva Sans"/>
                <a:ea typeface="Canva Sans"/>
                <a:cs typeface="Canva Sans"/>
                <a:sym typeface="Canva Sans"/>
              </a:rPr>
              <a:t>8. Implementation Setup</a:t>
            </a:r>
          </a:p>
          <a:p>
            <a:pPr algn="l">
              <a:lnSpc>
                <a:spcPts val="5880"/>
              </a:lnSpc>
            </a:pPr>
            <a:r>
              <a:rPr lang="en-US" sz="4200">
                <a:solidFill>
                  <a:srgbClr val="000000"/>
                </a:solidFill>
                <a:latin typeface="Canva Sans"/>
                <a:ea typeface="Canva Sans"/>
                <a:cs typeface="Canva Sans"/>
                <a:sym typeface="Canva Sans"/>
              </a:rPr>
              <a:t>9. Results &amp; Observations</a:t>
            </a:r>
          </a:p>
          <a:p>
            <a:pPr algn="l">
              <a:lnSpc>
                <a:spcPts val="5880"/>
              </a:lnSpc>
            </a:pPr>
            <a:r>
              <a:rPr lang="en-US" sz="4200">
                <a:solidFill>
                  <a:srgbClr val="000000"/>
                </a:solidFill>
                <a:latin typeface="Canva Sans"/>
                <a:ea typeface="Canva Sans"/>
                <a:cs typeface="Canva Sans"/>
                <a:sym typeface="Canva Sans"/>
              </a:rPr>
              <a:t>10. Applications, Limitations &amp;   Future Enhancements</a:t>
            </a:r>
          </a:p>
          <a:p>
            <a:pPr algn="l">
              <a:lnSpc>
                <a:spcPts val="5880"/>
              </a:lnSpc>
            </a:pPr>
            <a:r>
              <a:rPr lang="en-US" sz="4200">
                <a:solidFill>
                  <a:srgbClr val="000000"/>
                </a:solidFill>
                <a:latin typeface="Canva Sans"/>
                <a:ea typeface="Canva Sans"/>
                <a:cs typeface="Canva Sans"/>
                <a:sym typeface="Canva Sans"/>
              </a:rPr>
              <a:t>11. Conclusion &amp; Reference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a:p>
              <a:pPr algn="ctr">
                <a:lnSpc>
                  <a:spcPts val="2800"/>
                </a:lnSpc>
              </a:pPr>
              <a:endParaRPr/>
            </a:p>
          </p:txBody>
        </p:sp>
      </p:grpSp>
      <p:grpSp>
        <p:nvGrpSpPr>
          <p:cNvPr id="6" name="Group 6"/>
          <p:cNvGrpSpPr/>
          <p:nvPr/>
        </p:nvGrpSpPr>
        <p:grpSpPr>
          <a:xfrm>
            <a:off x="4404549" y="9725746"/>
            <a:ext cx="14052410" cy="873514"/>
            <a:chOff x="0" y="0"/>
            <a:chExt cx="3701046" cy="230061"/>
          </a:xfrm>
        </p:grpSpPr>
        <p:sp>
          <p:nvSpPr>
            <p:cNvPr id="7" name="Freeform 7"/>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8" name="TextBox 8"/>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9" name="TextBox 9"/>
          <p:cNvSpPr txBox="1"/>
          <p:nvPr/>
        </p:nvSpPr>
        <p:spPr>
          <a:xfrm>
            <a:off x="-1130013" y="1006382"/>
            <a:ext cx="15344895" cy="1651635"/>
          </a:xfrm>
          <a:prstGeom prst="rect">
            <a:avLst/>
          </a:prstGeom>
        </p:spPr>
        <p:txBody>
          <a:bodyPr lIns="0" tIns="0" rIns="0" bIns="0" rtlCol="0" anchor="t">
            <a:spAutoFit/>
          </a:bodyPr>
          <a:lstStyle/>
          <a:p>
            <a:pPr algn="ctr">
              <a:lnSpc>
                <a:spcPts val="13439"/>
              </a:lnSpc>
              <a:spcBef>
                <a:spcPct val="0"/>
              </a:spcBef>
            </a:pPr>
            <a:r>
              <a:rPr lang="en-US" sz="9600">
                <a:solidFill>
                  <a:srgbClr val="000000"/>
                </a:solidFill>
                <a:latin typeface="Bricolage Grotesque"/>
                <a:ea typeface="Bricolage Grotesque"/>
                <a:cs typeface="Bricolage Grotesque"/>
                <a:sym typeface="Bricolage Grotesque"/>
              </a:rPr>
              <a:t>Problem Statement</a:t>
            </a:r>
          </a:p>
        </p:txBody>
      </p:sp>
      <p:sp>
        <p:nvSpPr>
          <p:cNvPr id="10" name="Freeform 10"/>
          <p:cNvSpPr/>
          <p:nvPr/>
        </p:nvSpPr>
        <p:spPr>
          <a:xfrm>
            <a:off x="2508356" y="38952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11" name="TextBox 11"/>
          <p:cNvSpPr txBox="1"/>
          <p:nvPr/>
        </p:nvSpPr>
        <p:spPr>
          <a:xfrm>
            <a:off x="425898" y="3566478"/>
            <a:ext cx="17436203" cy="3684270"/>
          </a:xfrm>
          <a:prstGeom prst="rect">
            <a:avLst/>
          </a:prstGeom>
        </p:spPr>
        <p:txBody>
          <a:bodyPr lIns="0" tIns="0" rIns="0" bIns="0" rtlCol="0" anchor="t">
            <a:spAutoFit/>
          </a:bodyPr>
          <a:lstStyle/>
          <a:p>
            <a:pPr algn="l">
              <a:lnSpc>
                <a:spcPts val="5880"/>
              </a:lnSpc>
            </a:pPr>
            <a:r>
              <a:rPr lang="en-US" sz="4200">
                <a:solidFill>
                  <a:srgbClr val="000000"/>
                </a:solidFill>
                <a:latin typeface="Canva Sans"/>
                <a:ea typeface="Canva Sans"/>
                <a:cs typeface="Canva Sans"/>
                <a:sym typeface="Canva Sans"/>
              </a:rPr>
              <a:t>Traditional security systems either detect everything blindly (ultrasonic) or require constant human monitoring. There is a need for an intelligent, low-cost system that can identify specific threat objects, distinguish safe targets, and trigger a response automatically or on command — with remote notification capability.</a:t>
            </a:r>
          </a:p>
        </p:txBody>
      </p:sp>
      <p:sp>
        <p:nvSpPr>
          <p:cNvPr id="12" name="Freeform 12"/>
          <p:cNvSpPr/>
          <p:nvPr/>
        </p:nvSpPr>
        <p:spPr>
          <a:xfrm>
            <a:off x="2508356" y="38952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6" name="TextBox 6"/>
          <p:cNvSpPr txBox="1"/>
          <p:nvPr/>
        </p:nvSpPr>
        <p:spPr>
          <a:xfrm>
            <a:off x="1028700" y="663800"/>
            <a:ext cx="6546056" cy="3152771"/>
          </a:xfrm>
          <a:prstGeom prst="rect">
            <a:avLst/>
          </a:prstGeom>
        </p:spPr>
        <p:txBody>
          <a:bodyPr lIns="0" tIns="0" rIns="0" bIns="0" rtlCol="0" anchor="t">
            <a:spAutoFit/>
          </a:bodyPr>
          <a:lstStyle/>
          <a:p>
            <a:pPr algn="ctr">
              <a:lnSpc>
                <a:spcPts val="12600"/>
              </a:lnSpc>
              <a:spcBef>
                <a:spcPct val="0"/>
              </a:spcBef>
            </a:pPr>
            <a:r>
              <a:rPr lang="en-US" sz="9000">
                <a:solidFill>
                  <a:srgbClr val="000000"/>
                </a:solidFill>
                <a:latin typeface="Bricolage Grotesque"/>
                <a:ea typeface="Bricolage Grotesque"/>
                <a:cs typeface="Bricolage Grotesque"/>
                <a:sym typeface="Bricolage Grotesque"/>
              </a:rPr>
              <a:t>Introduction</a:t>
            </a:r>
          </a:p>
          <a:p>
            <a:pPr algn="ctr">
              <a:lnSpc>
                <a:spcPts val="12600"/>
              </a:lnSpc>
              <a:spcBef>
                <a:spcPct val="0"/>
              </a:spcBef>
            </a:pPr>
            <a:endParaRPr lang="en-US" sz="9000">
              <a:solidFill>
                <a:srgbClr val="000000"/>
              </a:solidFill>
              <a:latin typeface="Bricolage Grotesque"/>
              <a:ea typeface="Bricolage Grotesque"/>
              <a:cs typeface="Bricolage Grotesque"/>
              <a:sym typeface="Bricolage Grotesque"/>
            </a:endParaRPr>
          </a:p>
        </p:txBody>
      </p:sp>
      <p:sp>
        <p:nvSpPr>
          <p:cNvPr id="7" name="TextBox 7"/>
          <p:cNvSpPr txBox="1"/>
          <p:nvPr/>
        </p:nvSpPr>
        <p:spPr>
          <a:xfrm>
            <a:off x="1028700" y="2024917"/>
            <a:ext cx="16230600" cy="6647179"/>
          </a:xfrm>
          <a:prstGeom prst="rect">
            <a:avLst/>
          </a:prstGeom>
        </p:spPr>
        <p:txBody>
          <a:bodyPr lIns="0" tIns="0" rIns="0" bIns="0" rtlCol="0" anchor="t">
            <a:spAutoFit/>
          </a:bodyPr>
          <a:lstStyle/>
          <a:p>
            <a:pPr algn="l">
              <a:lnSpc>
                <a:spcPts val="5320"/>
              </a:lnSpc>
            </a:pPr>
            <a:r>
              <a:rPr lang="en-US" sz="3800">
                <a:solidFill>
                  <a:srgbClr val="000000"/>
                </a:solidFill>
                <a:latin typeface="Canva Sans"/>
                <a:ea typeface="Canva Sans"/>
                <a:cs typeface="Canva Sans"/>
                <a:sym typeface="Canva Sans"/>
              </a:rPr>
              <a:t>Mini Air Defence System is a smart detection and response system designed to identify specific objects and trigger an action.</a:t>
            </a:r>
          </a:p>
          <a:p>
            <a:pPr algn="l">
              <a:lnSpc>
                <a:spcPts val="5320"/>
              </a:lnSpc>
            </a:pPr>
            <a:r>
              <a:rPr lang="en-US" sz="3800">
                <a:solidFill>
                  <a:srgbClr val="000000"/>
                </a:solidFill>
                <a:latin typeface="Canva Sans"/>
                <a:ea typeface="Canva Sans"/>
                <a:cs typeface="Canva Sans"/>
                <a:sym typeface="Canva Sans"/>
              </a:rPr>
              <a:t>Objective</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Detect specific objects using computer vision</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Improve previous ultrasonic-based detection system</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Provide manual override shooting mechanism</a:t>
            </a:r>
          </a:p>
          <a:p>
            <a:pPr algn="l">
              <a:lnSpc>
                <a:spcPts val="5320"/>
              </a:lnSpc>
            </a:pPr>
            <a:r>
              <a:rPr lang="en-US" sz="3800">
                <a:solidFill>
                  <a:srgbClr val="000000"/>
                </a:solidFill>
                <a:latin typeface="Canva Sans"/>
                <a:ea typeface="Canva Sans"/>
                <a:cs typeface="Canva Sans"/>
                <a:sym typeface="Canva Sans"/>
              </a:rPr>
              <a:t>Applications</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Civilian security areas</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Small military camps</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Restricted zones</a:t>
            </a:r>
          </a:p>
        </p:txBody>
      </p:sp>
      <p:grpSp>
        <p:nvGrpSpPr>
          <p:cNvPr id="8" name="Group 8"/>
          <p:cNvGrpSpPr/>
          <p:nvPr/>
        </p:nvGrpSpPr>
        <p:grpSpPr>
          <a:xfrm>
            <a:off x="4404549" y="9725746"/>
            <a:ext cx="14052410" cy="873514"/>
            <a:chOff x="0" y="0"/>
            <a:chExt cx="3701046" cy="230061"/>
          </a:xfrm>
        </p:grpSpPr>
        <p:sp>
          <p:nvSpPr>
            <p:cNvPr id="9" name="Freeform 9"/>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10" name="TextBox 10"/>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1356153" y="4466588"/>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6" name="TextBox 6"/>
          <p:cNvSpPr txBox="1"/>
          <p:nvPr/>
        </p:nvSpPr>
        <p:spPr>
          <a:xfrm>
            <a:off x="0" y="466586"/>
            <a:ext cx="17688797" cy="1552571"/>
          </a:xfrm>
          <a:prstGeom prst="rect">
            <a:avLst/>
          </a:prstGeom>
        </p:spPr>
        <p:txBody>
          <a:bodyPr lIns="0" tIns="0" rIns="0" bIns="0" rtlCol="0" anchor="t">
            <a:spAutoFit/>
          </a:bodyPr>
          <a:lstStyle/>
          <a:p>
            <a:pPr algn="ctr">
              <a:lnSpc>
                <a:spcPts val="12600"/>
              </a:lnSpc>
              <a:spcBef>
                <a:spcPct val="0"/>
              </a:spcBef>
            </a:pPr>
            <a:r>
              <a:rPr lang="en-US" sz="9000">
                <a:solidFill>
                  <a:srgbClr val="000000"/>
                </a:solidFill>
                <a:latin typeface="Bricolage Grotesque"/>
                <a:ea typeface="Bricolage Grotesque"/>
                <a:cs typeface="Bricolage Grotesque"/>
                <a:sym typeface="Bricolage Grotesque"/>
              </a:rPr>
              <a:t>Real World Air Defence Systems</a:t>
            </a:r>
          </a:p>
        </p:txBody>
      </p:sp>
      <p:sp>
        <p:nvSpPr>
          <p:cNvPr id="7" name="TextBox 7"/>
          <p:cNvSpPr txBox="1"/>
          <p:nvPr/>
        </p:nvSpPr>
        <p:spPr>
          <a:xfrm>
            <a:off x="610744" y="2177387"/>
            <a:ext cx="16384290" cy="7313929"/>
          </a:xfrm>
          <a:prstGeom prst="rect">
            <a:avLst/>
          </a:prstGeom>
        </p:spPr>
        <p:txBody>
          <a:bodyPr lIns="0" tIns="0" rIns="0" bIns="0" rtlCol="0" anchor="t">
            <a:spAutoFit/>
          </a:bodyPr>
          <a:lstStyle/>
          <a:p>
            <a:pPr algn="l">
              <a:lnSpc>
                <a:spcPts val="5320"/>
              </a:lnSpc>
            </a:pPr>
            <a:r>
              <a:rPr lang="en-US" sz="3800">
                <a:solidFill>
                  <a:srgbClr val="000000"/>
                </a:solidFill>
                <a:latin typeface="Canva Sans"/>
                <a:ea typeface="Canva Sans"/>
                <a:cs typeface="Canva Sans"/>
                <a:sym typeface="Canva Sans"/>
              </a:rPr>
              <a:t>Modern air defence systems operate on similar principles but with advanced technology.</a:t>
            </a:r>
          </a:p>
          <a:p>
            <a:pPr algn="l">
              <a:lnSpc>
                <a:spcPts val="5320"/>
              </a:lnSpc>
            </a:pPr>
            <a:endParaRPr lang="en-US" sz="3800">
              <a:solidFill>
                <a:srgbClr val="000000"/>
              </a:solidFill>
              <a:latin typeface="Canva Sans"/>
              <a:ea typeface="Canva Sans"/>
              <a:cs typeface="Canva Sans"/>
              <a:sym typeface="Canva Sans"/>
            </a:endParaRPr>
          </a:p>
          <a:p>
            <a:pPr algn="l">
              <a:lnSpc>
                <a:spcPts val="5320"/>
              </a:lnSpc>
            </a:pPr>
            <a:r>
              <a:rPr lang="en-US" sz="3800">
                <a:solidFill>
                  <a:srgbClr val="000000"/>
                </a:solidFill>
                <a:latin typeface="Canva Sans"/>
                <a:ea typeface="Canva Sans"/>
                <a:cs typeface="Canva Sans"/>
                <a:sym typeface="Canva Sans"/>
              </a:rPr>
              <a:t>Examples include:</a:t>
            </a:r>
          </a:p>
          <a:p>
            <a:pPr algn="l">
              <a:lnSpc>
                <a:spcPts val="5320"/>
              </a:lnSpc>
            </a:pPr>
            <a:r>
              <a:rPr lang="en-US" sz="3800">
                <a:solidFill>
                  <a:srgbClr val="000000"/>
                </a:solidFill>
                <a:latin typeface="Canva Sans"/>
                <a:ea typeface="Canva Sans"/>
                <a:cs typeface="Canva Sans"/>
                <a:sym typeface="Canva Sans"/>
              </a:rPr>
              <a:t>• Iron Dome (Israel) – intercepts short-range rockets</a:t>
            </a:r>
          </a:p>
          <a:p>
            <a:pPr algn="l">
              <a:lnSpc>
                <a:spcPts val="5320"/>
              </a:lnSpc>
            </a:pPr>
            <a:r>
              <a:rPr lang="en-US" sz="3800">
                <a:solidFill>
                  <a:srgbClr val="000000"/>
                </a:solidFill>
                <a:latin typeface="Canva Sans"/>
                <a:ea typeface="Canva Sans"/>
                <a:cs typeface="Canva Sans"/>
                <a:sym typeface="Canva Sans"/>
              </a:rPr>
              <a:t>• Patriot Missile System (USA) – surface-to-air missile defense</a:t>
            </a:r>
          </a:p>
          <a:p>
            <a:pPr algn="l">
              <a:lnSpc>
                <a:spcPts val="5320"/>
              </a:lnSpc>
            </a:pPr>
            <a:r>
              <a:rPr lang="en-US" sz="3800">
                <a:solidFill>
                  <a:srgbClr val="000000"/>
                </a:solidFill>
                <a:latin typeface="Canva Sans"/>
                <a:ea typeface="Canva Sans"/>
                <a:cs typeface="Canva Sans"/>
                <a:sym typeface="Canva Sans"/>
              </a:rPr>
              <a:t>• S-400 (Russia) – long-range air defense system</a:t>
            </a:r>
          </a:p>
          <a:p>
            <a:pPr algn="l">
              <a:lnSpc>
                <a:spcPts val="5320"/>
              </a:lnSpc>
            </a:pPr>
            <a:endParaRPr lang="en-US" sz="3800">
              <a:solidFill>
                <a:srgbClr val="000000"/>
              </a:solidFill>
              <a:latin typeface="Canva Sans"/>
              <a:ea typeface="Canva Sans"/>
              <a:cs typeface="Canva Sans"/>
              <a:sym typeface="Canva Sans"/>
            </a:endParaRPr>
          </a:p>
          <a:p>
            <a:pPr algn="l">
              <a:lnSpc>
                <a:spcPts val="5320"/>
              </a:lnSpc>
            </a:pPr>
            <a:r>
              <a:rPr lang="en-US" sz="3800">
                <a:solidFill>
                  <a:srgbClr val="000000"/>
                </a:solidFill>
                <a:latin typeface="Canva Sans"/>
                <a:ea typeface="Canva Sans"/>
                <a:cs typeface="Canva Sans"/>
                <a:sym typeface="Canva Sans"/>
              </a:rPr>
              <a:t>Our prototype demonstrates the basic working concept of these systems using low-cost components.</a:t>
            </a:r>
          </a:p>
          <a:p>
            <a:pPr algn="l">
              <a:lnSpc>
                <a:spcPts val="5320"/>
              </a:lnSpc>
            </a:pPr>
            <a:endParaRPr lang="en-US" sz="3800">
              <a:solidFill>
                <a:srgbClr val="000000"/>
              </a:solidFill>
              <a:latin typeface="Canva Sans"/>
              <a:ea typeface="Canva Sans"/>
              <a:cs typeface="Canva Sans"/>
              <a:sym typeface="Canva Sans"/>
            </a:endParaRPr>
          </a:p>
        </p:txBody>
      </p:sp>
      <p:grpSp>
        <p:nvGrpSpPr>
          <p:cNvPr id="8" name="Group 8"/>
          <p:cNvGrpSpPr/>
          <p:nvPr/>
        </p:nvGrpSpPr>
        <p:grpSpPr>
          <a:xfrm>
            <a:off x="4404549" y="9725746"/>
            <a:ext cx="14052410" cy="873514"/>
            <a:chOff x="0" y="0"/>
            <a:chExt cx="3701046" cy="230061"/>
          </a:xfrm>
        </p:grpSpPr>
        <p:sp>
          <p:nvSpPr>
            <p:cNvPr id="9" name="Freeform 9"/>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10" name="TextBox 10"/>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6" name="TextBox 6"/>
          <p:cNvSpPr txBox="1"/>
          <p:nvPr/>
        </p:nvSpPr>
        <p:spPr>
          <a:xfrm>
            <a:off x="-832142" y="339090"/>
            <a:ext cx="13474045" cy="1236345"/>
          </a:xfrm>
          <a:prstGeom prst="rect">
            <a:avLst/>
          </a:prstGeom>
        </p:spPr>
        <p:txBody>
          <a:bodyPr lIns="0" tIns="0" rIns="0" bIns="0" rtlCol="0" anchor="t">
            <a:spAutoFit/>
          </a:bodyPr>
          <a:lstStyle/>
          <a:p>
            <a:pPr algn="ctr">
              <a:lnSpc>
                <a:spcPts val="10080"/>
              </a:lnSpc>
              <a:spcBef>
                <a:spcPct val="0"/>
              </a:spcBef>
            </a:pPr>
            <a:r>
              <a:rPr lang="en-US" sz="7200">
                <a:solidFill>
                  <a:srgbClr val="000000"/>
                </a:solidFill>
                <a:latin typeface="Bricolage Grotesque"/>
                <a:ea typeface="Bricolage Grotesque"/>
                <a:cs typeface="Bricolage Grotesque"/>
                <a:sym typeface="Bricolage Grotesque"/>
              </a:rPr>
              <a:t>Previous Semester Work</a:t>
            </a:r>
          </a:p>
        </p:txBody>
      </p:sp>
      <p:sp>
        <p:nvSpPr>
          <p:cNvPr id="7" name="TextBox 7"/>
          <p:cNvSpPr txBox="1"/>
          <p:nvPr/>
        </p:nvSpPr>
        <p:spPr>
          <a:xfrm>
            <a:off x="875010" y="1454237"/>
            <a:ext cx="16384290" cy="8271509"/>
          </a:xfrm>
          <a:prstGeom prst="rect">
            <a:avLst/>
          </a:prstGeom>
        </p:spPr>
        <p:txBody>
          <a:bodyPr lIns="0" tIns="0" rIns="0" bIns="0" rtlCol="0" anchor="t">
            <a:spAutoFit/>
          </a:bodyPr>
          <a:lstStyle/>
          <a:p>
            <a:pPr algn="l">
              <a:lnSpc>
                <a:spcPts val="5040"/>
              </a:lnSpc>
            </a:pPr>
            <a:r>
              <a:rPr lang="en-US" sz="3600">
                <a:solidFill>
                  <a:srgbClr val="000000"/>
                </a:solidFill>
                <a:latin typeface="Canva Sans"/>
                <a:ea typeface="Canva Sans"/>
                <a:cs typeface="Canva Sans"/>
                <a:sym typeface="Canva Sans"/>
              </a:rPr>
              <a:t>System Components</a:t>
            </a:r>
          </a:p>
          <a:p>
            <a:pPr marL="777246" lvl="1" indent="-388623" algn="l">
              <a:lnSpc>
                <a:spcPts val="5040"/>
              </a:lnSpc>
              <a:buFont typeface="Arial"/>
              <a:buChar char="•"/>
            </a:pPr>
            <a:r>
              <a:rPr lang="en-US" sz="3600">
                <a:solidFill>
                  <a:srgbClr val="000000"/>
                </a:solidFill>
                <a:latin typeface="Canva Sans"/>
                <a:ea typeface="Canva Sans"/>
                <a:cs typeface="Canva Sans"/>
                <a:sym typeface="Canva Sans"/>
              </a:rPr>
              <a:t>Ultrasonic Sensor</a:t>
            </a:r>
          </a:p>
          <a:p>
            <a:pPr marL="777246" lvl="1" indent="-388623" algn="l">
              <a:lnSpc>
                <a:spcPts val="5040"/>
              </a:lnSpc>
              <a:buFont typeface="Arial"/>
              <a:buChar char="•"/>
            </a:pPr>
            <a:r>
              <a:rPr lang="en-US" sz="3600">
                <a:solidFill>
                  <a:srgbClr val="000000"/>
                </a:solidFill>
                <a:latin typeface="Canva Sans"/>
                <a:ea typeface="Canva Sans"/>
                <a:cs typeface="Canva Sans"/>
                <a:sym typeface="Canva Sans"/>
              </a:rPr>
              <a:t>Servo Motor</a:t>
            </a:r>
          </a:p>
          <a:p>
            <a:pPr marL="777246" lvl="1" indent="-388623" algn="l">
              <a:lnSpc>
                <a:spcPts val="5040"/>
              </a:lnSpc>
              <a:buFont typeface="Arial"/>
              <a:buChar char="•"/>
            </a:pPr>
            <a:r>
              <a:rPr lang="en-US" sz="3600">
                <a:solidFill>
                  <a:srgbClr val="000000"/>
                </a:solidFill>
                <a:latin typeface="Canva Sans"/>
                <a:ea typeface="Canva Sans"/>
                <a:cs typeface="Canva Sans"/>
                <a:sym typeface="Canva Sans"/>
              </a:rPr>
              <a:t>Microcontroller</a:t>
            </a:r>
          </a:p>
          <a:p>
            <a:pPr marL="777246" lvl="1" indent="-388623" algn="l">
              <a:lnSpc>
                <a:spcPts val="5040"/>
              </a:lnSpc>
              <a:buFont typeface="Arial"/>
              <a:buChar char="•"/>
            </a:pPr>
            <a:r>
              <a:rPr lang="en-US" sz="3600">
                <a:solidFill>
                  <a:srgbClr val="000000"/>
                </a:solidFill>
                <a:latin typeface="Canva Sans"/>
                <a:ea typeface="Canva Sans"/>
                <a:cs typeface="Canva Sans"/>
                <a:sym typeface="Canva Sans"/>
              </a:rPr>
              <a:t>Trigger Mechanism</a:t>
            </a:r>
          </a:p>
          <a:p>
            <a:pPr algn="l">
              <a:lnSpc>
                <a:spcPts val="5040"/>
              </a:lnSpc>
            </a:pPr>
            <a:r>
              <a:rPr lang="en-US" sz="3600">
                <a:solidFill>
                  <a:srgbClr val="000000"/>
                </a:solidFill>
                <a:latin typeface="Canva Sans"/>
                <a:ea typeface="Canva Sans"/>
                <a:cs typeface="Canva Sans"/>
                <a:sym typeface="Canva Sans"/>
              </a:rPr>
              <a:t>Working</a:t>
            </a:r>
          </a:p>
          <a:p>
            <a:pPr marL="777246" lvl="1" indent="-388623" algn="l">
              <a:lnSpc>
                <a:spcPts val="5040"/>
              </a:lnSpc>
              <a:buFont typeface="Arial"/>
              <a:buChar char="•"/>
            </a:pPr>
            <a:r>
              <a:rPr lang="en-US" sz="3600">
                <a:solidFill>
                  <a:srgbClr val="000000"/>
                </a:solidFill>
                <a:latin typeface="Canva Sans"/>
                <a:ea typeface="Canva Sans"/>
                <a:cs typeface="Canva Sans"/>
                <a:sym typeface="Canva Sans"/>
              </a:rPr>
              <a:t>Detect object using ultrasonic distance</a:t>
            </a:r>
          </a:p>
          <a:p>
            <a:pPr marL="777246" lvl="1" indent="-388623" algn="l">
              <a:lnSpc>
                <a:spcPts val="5040"/>
              </a:lnSpc>
              <a:buFont typeface="Arial"/>
              <a:buChar char="•"/>
            </a:pPr>
            <a:r>
              <a:rPr lang="en-US" sz="3600">
                <a:solidFill>
                  <a:srgbClr val="000000"/>
                </a:solidFill>
                <a:latin typeface="Canva Sans"/>
                <a:ea typeface="Canva Sans"/>
                <a:cs typeface="Canva Sans"/>
                <a:sym typeface="Canva Sans"/>
              </a:rPr>
              <a:t>Rotate servo motor</a:t>
            </a:r>
          </a:p>
          <a:p>
            <a:pPr marL="777246" lvl="1" indent="-388623" algn="l">
              <a:lnSpc>
                <a:spcPts val="5040"/>
              </a:lnSpc>
              <a:buFont typeface="Arial"/>
              <a:buChar char="•"/>
            </a:pPr>
            <a:r>
              <a:rPr lang="en-US" sz="3600">
                <a:solidFill>
                  <a:srgbClr val="000000"/>
                </a:solidFill>
                <a:latin typeface="Canva Sans"/>
                <a:ea typeface="Canva Sans"/>
                <a:cs typeface="Canva Sans"/>
                <a:sym typeface="Canva Sans"/>
              </a:rPr>
              <a:t>Activate shooting mechanism</a:t>
            </a:r>
          </a:p>
          <a:p>
            <a:pPr algn="l">
              <a:lnSpc>
                <a:spcPts val="5040"/>
              </a:lnSpc>
            </a:pPr>
            <a:r>
              <a:rPr lang="en-US" sz="3600">
                <a:solidFill>
                  <a:srgbClr val="000000"/>
                </a:solidFill>
                <a:latin typeface="Canva Sans"/>
                <a:ea typeface="Canva Sans"/>
                <a:cs typeface="Canva Sans"/>
                <a:sym typeface="Canva Sans"/>
              </a:rPr>
              <a:t>Limitations</a:t>
            </a:r>
          </a:p>
          <a:p>
            <a:pPr marL="777246" lvl="1" indent="-388623" algn="l">
              <a:lnSpc>
                <a:spcPts val="5040"/>
              </a:lnSpc>
              <a:buFont typeface="Arial"/>
              <a:buChar char="•"/>
            </a:pPr>
            <a:r>
              <a:rPr lang="en-US" sz="3600">
                <a:solidFill>
                  <a:srgbClr val="000000"/>
                </a:solidFill>
                <a:latin typeface="Canva Sans"/>
                <a:ea typeface="Canva Sans"/>
                <a:cs typeface="Canva Sans"/>
                <a:sym typeface="Canva Sans"/>
              </a:rPr>
              <a:t>Cannot identify objects</a:t>
            </a:r>
          </a:p>
          <a:p>
            <a:pPr marL="777246" lvl="1" indent="-388623" algn="l">
              <a:lnSpc>
                <a:spcPts val="5040"/>
              </a:lnSpc>
              <a:buFont typeface="Arial"/>
              <a:buChar char="•"/>
            </a:pPr>
            <a:r>
              <a:rPr lang="en-US" sz="3600">
                <a:solidFill>
                  <a:srgbClr val="000000"/>
                </a:solidFill>
                <a:latin typeface="Canva Sans"/>
                <a:ea typeface="Canva Sans"/>
                <a:cs typeface="Canva Sans"/>
                <a:sym typeface="Canva Sans"/>
              </a:rPr>
              <a:t>Detects all obstacles</a:t>
            </a:r>
          </a:p>
          <a:p>
            <a:pPr marL="777246" lvl="1" indent="-388623" algn="l">
              <a:lnSpc>
                <a:spcPts val="5040"/>
              </a:lnSpc>
              <a:buFont typeface="Arial"/>
              <a:buChar char="•"/>
            </a:pPr>
            <a:r>
              <a:rPr lang="en-US" sz="3600">
                <a:solidFill>
                  <a:srgbClr val="000000"/>
                </a:solidFill>
                <a:latin typeface="Canva Sans"/>
                <a:ea typeface="Canva Sans"/>
                <a:cs typeface="Canva Sans"/>
                <a:sym typeface="Canva Sans"/>
              </a:rPr>
              <a:t>Not intelligent detection</a:t>
            </a:r>
          </a:p>
        </p:txBody>
      </p:sp>
      <p:grpSp>
        <p:nvGrpSpPr>
          <p:cNvPr id="8" name="Group 8"/>
          <p:cNvGrpSpPr/>
          <p:nvPr/>
        </p:nvGrpSpPr>
        <p:grpSpPr>
          <a:xfrm>
            <a:off x="4404549" y="9725746"/>
            <a:ext cx="14052410" cy="873514"/>
            <a:chOff x="0" y="0"/>
            <a:chExt cx="3701046" cy="230061"/>
          </a:xfrm>
        </p:grpSpPr>
        <p:sp>
          <p:nvSpPr>
            <p:cNvPr id="9" name="Freeform 9"/>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10" name="TextBox 10"/>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6" name="TextBox 6"/>
          <p:cNvSpPr txBox="1"/>
          <p:nvPr/>
        </p:nvSpPr>
        <p:spPr>
          <a:xfrm>
            <a:off x="-194305" y="634578"/>
            <a:ext cx="16630447" cy="1236345"/>
          </a:xfrm>
          <a:prstGeom prst="rect">
            <a:avLst/>
          </a:prstGeom>
        </p:spPr>
        <p:txBody>
          <a:bodyPr lIns="0" tIns="0" rIns="0" bIns="0" rtlCol="0" anchor="t">
            <a:spAutoFit/>
          </a:bodyPr>
          <a:lstStyle/>
          <a:p>
            <a:pPr algn="ctr">
              <a:lnSpc>
                <a:spcPts val="10080"/>
              </a:lnSpc>
              <a:spcBef>
                <a:spcPct val="0"/>
              </a:spcBef>
            </a:pPr>
            <a:r>
              <a:rPr lang="en-US" sz="7200">
                <a:solidFill>
                  <a:srgbClr val="000000"/>
                </a:solidFill>
                <a:latin typeface="Bricolage Grotesque"/>
                <a:ea typeface="Bricolage Grotesque"/>
                <a:cs typeface="Bricolage Grotesque"/>
                <a:sym typeface="Bricolage Grotesque"/>
              </a:rPr>
              <a:t>Improvements in Current Semester</a:t>
            </a:r>
          </a:p>
        </p:txBody>
      </p:sp>
      <p:sp>
        <p:nvSpPr>
          <p:cNvPr id="7" name="TextBox 7"/>
          <p:cNvSpPr txBox="1"/>
          <p:nvPr/>
        </p:nvSpPr>
        <p:spPr>
          <a:xfrm>
            <a:off x="875010" y="1924616"/>
            <a:ext cx="16384290" cy="7313929"/>
          </a:xfrm>
          <a:prstGeom prst="rect">
            <a:avLst/>
          </a:prstGeom>
        </p:spPr>
        <p:txBody>
          <a:bodyPr lIns="0" tIns="0" rIns="0" bIns="0" rtlCol="0" anchor="t">
            <a:spAutoFit/>
          </a:bodyPr>
          <a:lstStyle/>
          <a:p>
            <a:pPr algn="l">
              <a:lnSpc>
                <a:spcPts val="5320"/>
              </a:lnSpc>
            </a:pPr>
            <a:r>
              <a:rPr lang="en-US" sz="3800">
                <a:solidFill>
                  <a:srgbClr val="000000"/>
                </a:solidFill>
                <a:latin typeface="Canva Sans"/>
                <a:ea typeface="Canva Sans"/>
                <a:cs typeface="Canva Sans"/>
                <a:sym typeface="Canva Sans"/>
              </a:rPr>
              <a:t>New features added:</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Camera module for vision</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YOLOv11 object detection</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Detection of specific objects:</a:t>
            </a:r>
          </a:p>
          <a:p>
            <a:pPr marL="1640851" lvl="2" indent="-546950" algn="l">
              <a:lnSpc>
                <a:spcPts val="5320"/>
              </a:lnSpc>
              <a:buFont typeface="Arial"/>
              <a:buChar char="⚬"/>
            </a:pPr>
            <a:r>
              <a:rPr lang="en-US" sz="3800">
                <a:solidFill>
                  <a:srgbClr val="000000"/>
                </a:solidFill>
                <a:latin typeface="Canva Sans"/>
                <a:ea typeface="Canva Sans"/>
                <a:cs typeface="Canva Sans"/>
                <a:sym typeface="Canva Sans"/>
              </a:rPr>
              <a:t>Mobile Phone</a:t>
            </a:r>
          </a:p>
          <a:p>
            <a:pPr marL="1640851" lvl="2" indent="-546950" algn="l">
              <a:lnSpc>
                <a:spcPts val="5320"/>
              </a:lnSpc>
              <a:buFont typeface="Arial"/>
              <a:buChar char="⚬"/>
            </a:pPr>
            <a:r>
              <a:rPr lang="en-US" sz="3800">
                <a:solidFill>
                  <a:srgbClr val="000000"/>
                </a:solidFill>
                <a:latin typeface="Canva Sans"/>
                <a:ea typeface="Canva Sans"/>
                <a:cs typeface="Canva Sans"/>
                <a:sym typeface="Canva Sans"/>
              </a:rPr>
              <a:t>ID Card</a:t>
            </a:r>
          </a:p>
          <a:p>
            <a:pPr marL="1640851" lvl="2" indent="-546950" algn="l">
              <a:lnSpc>
                <a:spcPts val="5320"/>
              </a:lnSpc>
              <a:buFont typeface="Arial"/>
              <a:buChar char="⚬"/>
            </a:pPr>
            <a:r>
              <a:rPr lang="en-US" sz="3800">
                <a:solidFill>
                  <a:srgbClr val="000000"/>
                </a:solidFill>
                <a:latin typeface="Canva Sans"/>
                <a:ea typeface="Canva Sans"/>
                <a:cs typeface="Canva Sans"/>
                <a:sym typeface="Canva Sans"/>
              </a:rPr>
              <a:t>Water Bottle</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Manual shoot button added</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More accurate targeting system</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Integration of Telegram </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Included website </a:t>
            </a:r>
          </a:p>
        </p:txBody>
      </p:sp>
      <p:grpSp>
        <p:nvGrpSpPr>
          <p:cNvPr id="8" name="Group 8"/>
          <p:cNvGrpSpPr/>
          <p:nvPr/>
        </p:nvGrpSpPr>
        <p:grpSpPr>
          <a:xfrm>
            <a:off x="4404549" y="9725746"/>
            <a:ext cx="14052410" cy="873514"/>
            <a:chOff x="0" y="0"/>
            <a:chExt cx="3701046" cy="230061"/>
          </a:xfrm>
        </p:grpSpPr>
        <p:sp>
          <p:nvSpPr>
            <p:cNvPr id="9" name="Freeform 9"/>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10" name="TextBox 10"/>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3019702" y="3913378"/>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graphicFrame>
        <p:nvGraphicFramePr>
          <p:cNvPr id="9" name="Table 9"/>
          <p:cNvGraphicFramePr>
            <a:graphicFrameLocks noGrp="1"/>
          </p:cNvGraphicFramePr>
          <p:nvPr/>
        </p:nvGraphicFramePr>
        <p:xfrm>
          <a:off x="1170625" y="2309223"/>
          <a:ext cx="16088675" cy="6680997"/>
        </p:xfrm>
        <a:graphic>
          <a:graphicData uri="http://schemas.openxmlformats.org/drawingml/2006/table">
            <a:tbl>
              <a:tblPr/>
              <a:tblGrid>
                <a:gridCol w="1978126">
                  <a:extLst>
                    <a:ext uri="{9D8B030D-6E8A-4147-A177-3AD203B41FA5}">
                      <a16:colId xmlns:a16="http://schemas.microsoft.com/office/drawing/2014/main" val="20000"/>
                    </a:ext>
                  </a:extLst>
                </a:gridCol>
                <a:gridCol w="4465092">
                  <a:extLst>
                    <a:ext uri="{9D8B030D-6E8A-4147-A177-3AD203B41FA5}">
                      <a16:colId xmlns:a16="http://schemas.microsoft.com/office/drawing/2014/main" val="20001"/>
                    </a:ext>
                  </a:extLst>
                </a:gridCol>
                <a:gridCol w="4975028">
                  <a:extLst>
                    <a:ext uri="{9D8B030D-6E8A-4147-A177-3AD203B41FA5}">
                      <a16:colId xmlns:a16="http://schemas.microsoft.com/office/drawing/2014/main" val="20002"/>
                    </a:ext>
                  </a:extLst>
                </a:gridCol>
                <a:gridCol w="4670429">
                  <a:extLst>
                    <a:ext uri="{9D8B030D-6E8A-4147-A177-3AD203B41FA5}">
                      <a16:colId xmlns:a16="http://schemas.microsoft.com/office/drawing/2014/main" val="20003"/>
                    </a:ext>
                  </a:extLst>
                </a:gridCol>
              </a:tblGrid>
              <a:tr h="1115232">
                <a:tc>
                  <a:txBody>
                    <a:bodyPr/>
                    <a:lstStyle/>
                    <a:p>
                      <a:pPr algn="l">
                        <a:lnSpc>
                          <a:spcPts val="2659"/>
                        </a:lnSpc>
                        <a:defRPr/>
                      </a:pPr>
                      <a:r>
                        <a:rPr lang="en-US" sz="1899">
                          <a:solidFill>
                            <a:srgbClr val="FFFFFF"/>
                          </a:solidFill>
                          <a:latin typeface="Canva Sans"/>
                          <a:ea typeface="Canva Sans"/>
                          <a:cs typeface="Canva Sans"/>
                          <a:sym typeface="Canva Sans"/>
                        </a:rPr>
                        <a:t>How Our Work Differs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38B6FF"/>
                    </a:solidFill>
                  </a:tcPr>
                </a:tc>
                <a:tc>
                  <a:txBody>
                    <a:bodyPr/>
                    <a:lstStyle/>
                    <a:p>
                      <a:pPr algn="l">
                        <a:lnSpc>
                          <a:spcPts val="2659"/>
                        </a:lnSpc>
                        <a:defRPr/>
                      </a:pPr>
                      <a:r>
                        <a:rPr lang="en-US" sz="1899">
                          <a:solidFill>
                            <a:srgbClr val="FFFFFF"/>
                          </a:solidFill>
                          <a:latin typeface="Canva Sans"/>
                          <a:ea typeface="Canva Sans"/>
                          <a:cs typeface="Canva Sans"/>
                          <a:sym typeface="Canva Sans"/>
                        </a:rPr>
                        <a:t>Author / Year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38B6FF"/>
                    </a:solidFill>
                  </a:tcPr>
                </a:tc>
                <a:tc>
                  <a:txBody>
                    <a:bodyPr/>
                    <a:lstStyle/>
                    <a:p>
                      <a:pPr algn="l">
                        <a:lnSpc>
                          <a:spcPts val="2659"/>
                        </a:lnSpc>
                        <a:defRPr/>
                      </a:pPr>
                      <a:r>
                        <a:rPr lang="en-US" sz="1899">
                          <a:solidFill>
                            <a:srgbClr val="FFFFFF"/>
                          </a:solidFill>
                          <a:latin typeface="Canva Sans"/>
                          <a:ea typeface="Canva Sans"/>
                          <a:cs typeface="Canva Sans"/>
                          <a:sym typeface="Canva Sans"/>
                        </a:rPr>
                        <a:t>Work Done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38B6FF"/>
                    </a:solidFill>
                  </a:tcPr>
                </a:tc>
                <a:tc>
                  <a:txBody>
                    <a:bodyPr/>
                    <a:lstStyle/>
                    <a:p>
                      <a:pPr algn="l">
                        <a:lnSpc>
                          <a:spcPts val="2659"/>
                        </a:lnSpc>
                        <a:defRPr/>
                      </a:pPr>
                      <a:r>
                        <a:rPr lang="en-US" sz="1899">
                          <a:solidFill>
                            <a:srgbClr val="FFFFFF"/>
                          </a:solidFill>
                          <a:latin typeface="Canva Sans"/>
                          <a:ea typeface="Canva Sans"/>
                          <a:cs typeface="Canva Sans"/>
                          <a:sym typeface="Canva Sans"/>
                        </a:rPr>
                        <a:t>Gap Identified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38B6FF"/>
                    </a:solidFill>
                  </a:tcPr>
                </a:tc>
                <a:extLst>
                  <a:ext uri="{0D108BD9-81ED-4DB2-BD59-A6C34878D82A}">
                    <a16:rowId xmlns:a16="http://schemas.microsoft.com/office/drawing/2014/main" val="10000"/>
                  </a:ext>
                </a:extLst>
              </a:tr>
              <a:tr h="1475263">
                <a:tc>
                  <a:txBody>
                    <a:bodyPr/>
                    <a:lstStyle/>
                    <a:p>
                      <a:pPr algn="l">
                        <a:lnSpc>
                          <a:spcPts val="2659"/>
                        </a:lnSpc>
                        <a:defRPr/>
                      </a:pPr>
                      <a:r>
                        <a:rPr lang="en-US" sz="1899">
                          <a:solidFill>
                            <a:srgbClr val="000000"/>
                          </a:solidFill>
                          <a:latin typeface="Canva Sans"/>
                          <a:ea typeface="Canva Sans"/>
                          <a:cs typeface="Canva Sans"/>
                          <a:sym typeface="Canva Sans"/>
                        </a:rPr>
                        <a:t>We embed YOLOv8/v11 inside a closed-loop CPS with servo + Telegram alerts.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Redmon et al., 2016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Introduced YOLO — a single-stage real-time object detection architecture.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Generic detector — no integration with physical actuators or alert systems.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39976">
                <a:tc>
                  <a:txBody>
                    <a:bodyPr/>
                    <a:lstStyle/>
                    <a:p>
                      <a:pPr algn="l">
                        <a:lnSpc>
                          <a:spcPts val="2659"/>
                        </a:lnSpc>
                        <a:defRPr/>
                      </a:pPr>
                      <a:r>
                        <a:rPr lang="en-US" sz="1899">
                          <a:solidFill>
                            <a:srgbClr val="000000"/>
                          </a:solidFill>
                          <a:latin typeface="Canva Sans"/>
                          <a:ea typeface="Canva Sans"/>
                          <a:cs typeface="Canva Sans"/>
                          <a:sym typeface="Canva Sans"/>
                        </a:rPr>
                        <a:t>We deploy YOLO on CPU + Arduino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Sohan et al., 2024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Reviewed YOLOv8 — benchmarked accuracy and speed against v5/v7.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Survey only; no deployment on resource-constrained edge hardware.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75263">
                <a:tc>
                  <a:txBody>
                    <a:bodyPr/>
                    <a:lstStyle/>
                    <a:p>
                      <a:pPr algn="l">
                        <a:lnSpc>
                          <a:spcPts val="2659"/>
                        </a:lnSpc>
                        <a:defRPr/>
                      </a:pPr>
                      <a:r>
                        <a:rPr lang="en-US" sz="1899">
                          <a:solidFill>
                            <a:srgbClr val="000000"/>
                          </a:solidFill>
                          <a:latin typeface="Canva Sans"/>
                          <a:ea typeface="Canva Sans"/>
                          <a:cs typeface="Canva Sans"/>
                          <a:sym typeface="Canva Sans"/>
                        </a:rPr>
                        <a:t>We add servo-aimed response + manual override for active defense.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Springer, 2024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YOLOv8 smart surveillance CCTV system, reporting 96% detection accuracy.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Passive monitoring only — no physical response or actuation layer.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475263">
                <a:tc>
                  <a:txBody>
                    <a:bodyPr/>
                    <a:lstStyle/>
                    <a:p>
                      <a:pPr algn="l">
                        <a:lnSpc>
                          <a:spcPts val="2659"/>
                        </a:lnSpc>
                        <a:defRPr/>
                      </a:pPr>
                      <a:r>
                        <a:rPr lang="en-US" sz="1899">
                          <a:solidFill>
                            <a:srgbClr val="000000"/>
                          </a:solidFill>
                          <a:latin typeface="Canva Sans"/>
                          <a:ea typeface="Canva Sans"/>
                          <a:cs typeface="Canva Sans"/>
                          <a:sym typeface="Canva Sans"/>
                        </a:rPr>
                        <a:t>Our YOLO layer classifies targets and ignores persons (green/red logic).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IJSAT, 2025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Survey of Arduino-based defense radars using ultrasonic + servo turrets.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Ultrasonic detects all obstacles — cannot classify threat vs. safe object.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
        <p:nvSpPr>
          <p:cNvPr id="11" name="TextBox 11"/>
          <p:cNvSpPr txBox="1"/>
          <p:nvPr/>
        </p:nvSpPr>
        <p:spPr>
          <a:xfrm>
            <a:off x="0" y="466586"/>
            <a:ext cx="17688797" cy="1552571"/>
          </a:xfrm>
          <a:prstGeom prst="rect">
            <a:avLst/>
          </a:prstGeom>
        </p:spPr>
        <p:txBody>
          <a:bodyPr lIns="0" tIns="0" rIns="0" bIns="0" rtlCol="0" anchor="t">
            <a:spAutoFit/>
          </a:bodyPr>
          <a:lstStyle/>
          <a:p>
            <a:pPr algn="ctr">
              <a:lnSpc>
                <a:spcPts val="12600"/>
              </a:lnSpc>
              <a:spcBef>
                <a:spcPct val="0"/>
              </a:spcBef>
            </a:pPr>
            <a:r>
              <a:rPr lang="en-US" sz="9000">
                <a:solidFill>
                  <a:srgbClr val="000000"/>
                </a:solidFill>
                <a:latin typeface="Bricolage Grotesque"/>
                <a:ea typeface="Bricolage Grotesque"/>
                <a:cs typeface="Bricolage Grotesque"/>
                <a:sym typeface="Bricolage Grotesque"/>
              </a:rPr>
              <a:t>Literature Review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9" name="TextBox 9"/>
          <p:cNvSpPr txBox="1"/>
          <p:nvPr/>
        </p:nvSpPr>
        <p:spPr>
          <a:xfrm>
            <a:off x="-2119006" y="857250"/>
            <a:ext cx="18158441" cy="1460493"/>
          </a:xfrm>
          <a:prstGeom prst="rect">
            <a:avLst/>
          </a:prstGeom>
        </p:spPr>
        <p:txBody>
          <a:bodyPr lIns="0" tIns="0" rIns="0" bIns="0" rtlCol="0" anchor="t">
            <a:spAutoFit/>
          </a:bodyPr>
          <a:lstStyle/>
          <a:p>
            <a:pPr algn="ctr">
              <a:lnSpc>
                <a:spcPts val="11900"/>
              </a:lnSpc>
              <a:spcBef>
                <a:spcPct val="0"/>
              </a:spcBef>
            </a:pPr>
            <a:r>
              <a:rPr lang="en-US" sz="8500">
                <a:solidFill>
                  <a:srgbClr val="000000"/>
                </a:solidFill>
                <a:latin typeface="Bricolage Grotesque"/>
                <a:ea typeface="Bricolage Grotesque"/>
                <a:cs typeface="Bricolage Grotesque"/>
                <a:sym typeface="Bricolage Grotesque"/>
              </a:rPr>
              <a:t>SOFTWARE TOOLS USED</a:t>
            </a:r>
          </a:p>
        </p:txBody>
      </p:sp>
      <p:sp>
        <p:nvSpPr>
          <p:cNvPr id="10" name="TextBox 10"/>
          <p:cNvSpPr txBox="1"/>
          <p:nvPr/>
        </p:nvSpPr>
        <p:spPr>
          <a:xfrm>
            <a:off x="1028700" y="2176422"/>
            <a:ext cx="15010736" cy="7383503"/>
          </a:xfrm>
          <a:prstGeom prst="rect">
            <a:avLst/>
          </a:prstGeom>
        </p:spPr>
        <p:txBody>
          <a:bodyPr lIns="0" tIns="0" rIns="0" bIns="0" rtlCol="0" anchor="t">
            <a:spAutoFit/>
          </a:bodyPr>
          <a:lstStyle/>
          <a:p>
            <a:pPr marL="823073" lvl="1" indent="-411536" algn="l">
              <a:lnSpc>
                <a:spcPts val="5337"/>
              </a:lnSpc>
              <a:buFont typeface="Arial"/>
              <a:buChar char="•"/>
            </a:pPr>
            <a:r>
              <a:rPr lang="en-US" sz="3812">
                <a:solidFill>
                  <a:srgbClr val="000000"/>
                </a:solidFill>
                <a:latin typeface="Canva Sans"/>
                <a:ea typeface="Canva Sans"/>
                <a:cs typeface="Canva Sans"/>
                <a:sym typeface="Canva Sans"/>
              </a:rPr>
              <a:t>Simulink</a:t>
            </a:r>
          </a:p>
          <a:p>
            <a:pPr marL="823073" lvl="1" indent="-411536" algn="l">
              <a:lnSpc>
                <a:spcPts val="5337"/>
              </a:lnSpc>
              <a:buFont typeface="Arial"/>
              <a:buChar char="•"/>
            </a:pPr>
            <a:r>
              <a:rPr lang="en-US" sz="3812">
                <a:solidFill>
                  <a:srgbClr val="000000"/>
                </a:solidFill>
                <a:latin typeface="Canva Sans"/>
                <a:ea typeface="Canva Sans"/>
                <a:cs typeface="Canva Sans"/>
                <a:sym typeface="Canva Sans"/>
              </a:rPr>
              <a:t>Python</a:t>
            </a:r>
          </a:p>
          <a:p>
            <a:pPr marL="823073" lvl="1" indent="-411536" algn="l">
              <a:lnSpc>
                <a:spcPts val="5337"/>
              </a:lnSpc>
              <a:buFont typeface="Arial"/>
              <a:buChar char="•"/>
            </a:pPr>
            <a:r>
              <a:rPr lang="en-US" sz="3812">
                <a:solidFill>
                  <a:srgbClr val="000000"/>
                </a:solidFill>
                <a:latin typeface="Canva Sans"/>
                <a:ea typeface="Canva Sans"/>
                <a:cs typeface="Canva Sans"/>
                <a:sym typeface="Canva Sans"/>
              </a:rPr>
              <a:t>YOLOv11 Object Detection</a:t>
            </a:r>
          </a:p>
          <a:p>
            <a:pPr marL="823073" lvl="1" indent="-411536" algn="l">
              <a:lnSpc>
                <a:spcPts val="5337"/>
              </a:lnSpc>
              <a:buFont typeface="Arial"/>
              <a:buChar char="•"/>
            </a:pPr>
            <a:r>
              <a:rPr lang="en-US" sz="3812">
                <a:solidFill>
                  <a:srgbClr val="000000"/>
                </a:solidFill>
                <a:latin typeface="Canva Sans"/>
                <a:ea typeface="Canva Sans"/>
                <a:cs typeface="Canva Sans"/>
                <a:sym typeface="Canva Sans"/>
              </a:rPr>
              <a:t>OpenCV</a:t>
            </a:r>
          </a:p>
          <a:p>
            <a:pPr marL="823073" lvl="1" indent="-411536" algn="l">
              <a:lnSpc>
                <a:spcPts val="5337"/>
              </a:lnSpc>
              <a:buFont typeface="Arial"/>
              <a:buChar char="•"/>
            </a:pPr>
            <a:r>
              <a:rPr lang="en-US" sz="3812">
                <a:solidFill>
                  <a:srgbClr val="000000"/>
                </a:solidFill>
                <a:latin typeface="Canva Sans"/>
                <a:ea typeface="Canva Sans"/>
                <a:cs typeface="Canva Sans"/>
                <a:sym typeface="Canva Sans"/>
              </a:rPr>
              <a:t>Embedded Control Programming</a:t>
            </a:r>
          </a:p>
          <a:p>
            <a:pPr marL="823073" lvl="1" indent="-411536" algn="l">
              <a:lnSpc>
                <a:spcPts val="5337"/>
              </a:lnSpc>
              <a:spcBef>
                <a:spcPct val="0"/>
              </a:spcBef>
              <a:buFont typeface="Arial"/>
              <a:buChar char="•"/>
            </a:pPr>
            <a:r>
              <a:rPr lang="en-US" sz="3812">
                <a:solidFill>
                  <a:srgbClr val="000000"/>
                </a:solidFill>
                <a:latin typeface="Canva Sans"/>
                <a:ea typeface="Canva Sans"/>
                <a:cs typeface="Canva Sans"/>
                <a:sym typeface="Canva Sans"/>
              </a:rPr>
              <a:t>Processing</a:t>
            </a:r>
          </a:p>
          <a:p>
            <a:pPr algn="l">
              <a:lnSpc>
                <a:spcPts val="5337"/>
              </a:lnSpc>
              <a:spcBef>
                <a:spcPct val="0"/>
              </a:spcBef>
            </a:pPr>
            <a:r>
              <a:rPr lang="en-US" sz="3812">
                <a:solidFill>
                  <a:srgbClr val="000000"/>
                </a:solidFill>
                <a:latin typeface="Canva Sans"/>
                <a:ea typeface="Canva Sans"/>
                <a:cs typeface="Canva Sans"/>
                <a:sym typeface="Canva Sans"/>
              </a:rPr>
              <a:t>Dataset Used</a:t>
            </a:r>
          </a:p>
          <a:p>
            <a:pPr algn="l">
              <a:lnSpc>
                <a:spcPts val="5337"/>
              </a:lnSpc>
              <a:spcBef>
                <a:spcPct val="0"/>
              </a:spcBef>
            </a:pPr>
            <a:r>
              <a:rPr lang="en-US" sz="3812">
                <a:solidFill>
                  <a:srgbClr val="000000"/>
                </a:solidFill>
                <a:latin typeface="Canva Sans"/>
                <a:ea typeface="Canva Sans"/>
                <a:cs typeface="Canva Sans"/>
                <a:sym typeface="Canva Sans"/>
              </a:rPr>
              <a:t> Custom dataset trained for:</a:t>
            </a:r>
          </a:p>
          <a:p>
            <a:pPr marL="823073" lvl="1" indent="-411536" algn="l">
              <a:lnSpc>
                <a:spcPts val="5337"/>
              </a:lnSpc>
              <a:spcBef>
                <a:spcPct val="0"/>
              </a:spcBef>
              <a:buFont typeface="Arial"/>
              <a:buChar char="•"/>
            </a:pPr>
            <a:r>
              <a:rPr lang="en-US" sz="3812">
                <a:solidFill>
                  <a:srgbClr val="000000"/>
                </a:solidFill>
                <a:latin typeface="Canva Sans"/>
                <a:ea typeface="Canva Sans"/>
                <a:cs typeface="Canva Sans"/>
                <a:sym typeface="Canva Sans"/>
              </a:rPr>
              <a:t>Phone</a:t>
            </a:r>
          </a:p>
          <a:p>
            <a:pPr marL="823073" lvl="1" indent="-411536" algn="l">
              <a:lnSpc>
                <a:spcPts val="5337"/>
              </a:lnSpc>
              <a:spcBef>
                <a:spcPct val="0"/>
              </a:spcBef>
              <a:buFont typeface="Arial"/>
              <a:buChar char="•"/>
            </a:pPr>
            <a:r>
              <a:rPr lang="en-US" sz="3812">
                <a:solidFill>
                  <a:srgbClr val="000000"/>
                </a:solidFill>
                <a:latin typeface="Canva Sans"/>
                <a:ea typeface="Canva Sans"/>
                <a:cs typeface="Canva Sans"/>
                <a:sym typeface="Canva Sans"/>
              </a:rPr>
              <a:t>ID card</a:t>
            </a:r>
          </a:p>
          <a:p>
            <a:pPr marL="823073" lvl="1" indent="-411536" algn="l">
              <a:lnSpc>
                <a:spcPts val="5337"/>
              </a:lnSpc>
              <a:spcBef>
                <a:spcPct val="0"/>
              </a:spcBef>
              <a:buFont typeface="Arial"/>
              <a:buChar char="•"/>
            </a:pPr>
            <a:r>
              <a:rPr lang="en-US" sz="3812">
                <a:solidFill>
                  <a:srgbClr val="000000"/>
                </a:solidFill>
                <a:latin typeface="Canva Sans"/>
                <a:ea typeface="Canva Sans"/>
                <a:cs typeface="Canva Sans"/>
                <a:sym typeface="Canva Sans"/>
              </a:rPr>
              <a:t>Water bottle</a:t>
            </a:r>
          </a:p>
        </p:txBody>
      </p:sp>
      <p:sp>
        <p:nvSpPr>
          <p:cNvPr id="11" name="TextBox 1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9" name="TextBox 9"/>
          <p:cNvSpPr txBox="1"/>
          <p:nvPr/>
        </p:nvSpPr>
        <p:spPr>
          <a:xfrm>
            <a:off x="-276331" y="695325"/>
            <a:ext cx="18158441" cy="1460493"/>
          </a:xfrm>
          <a:prstGeom prst="rect">
            <a:avLst/>
          </a:prstGeom>
        </p:spPr>
        <p:txBody>
          <a:bodyPr lIns="0" tIns="0" rIns="0" bIns="0" rtlCol="0" anchor="t">
            <a:spAutoFit/>
          </a:bodyPr>
          <a:lstStyle/>
          <a:p>
            <a:pPr algn="ctr">
              <a:lnSpc>
                <a:spcPts val="11900"/>
              </a:lnSpc>
              <a:spcBef>
                <a:spcPct val="0"/>
              </a:spcBef>
            </a:pPr>
            <a:r>
              <a:rPr lang="en-US" sz="8500">
                <a:solidFill>
                  <a:srgbClr val="000000"/>
                </a:solidFill>
                <a:latin typeface="Bricolage Grotesque"/>
                <a:ea typeface="Bricolage Grotesque"/>
                <a:cs typeface="Bricolage Grotesque"/>
                <a:sym typeface="Bricolage Grotesque"/>
              </a:rPr>
              <a:t> HARDWARE COMPONENTS USED</a:t>
            </a:r>
          </a:p>
        </p:txBody>
      </p:sp>
      <p:sp>
        <p:nvSpPr>
          <p:cNvPr id="10" name="TextBox 10"/>
          <p:cNvSpPr txBox="1"/>
          <p:nvPr/>
        </p:nvSpPr>
        <p:spPr>
          <a:xfrm>
            <a:off x="847829" y="2298693"/>
            <a:ext cx="11558622" cy="3591560"/>
          </a:xfrm>
          <a:prstGeom prst="rect">
            <a:avLst/>
          </a:prstGeom>
        </p:spPr>
        <p:txBody>
          <a:bodyPr lIns="0" tIns="0" rIns="0" bIns="0" rtlCol="0" anchor="t">
            <a:spAutoFit/>
          </a:bodyPr>
          <a:lstStyle/>
          <a:p>
            <a:pPr marL="885187" lvl="1" indent="-442594" algn="l">
              <a:lnSpc>
                <a:spcPts val="5739"/>
              </a:lnSpc>
              <a:buFont typeface="Arial"/>
              <a:buChar char="•"/>
            </a:pPr>
            <a:r>
              <a:rPr lang="en-US" sz="4099">
                <a:solidFill>
                  <a:srgbClr val="000000"/>
                </a:solidFill>
                <a:latin typeface="Canva Sans"/>
                <a:ea typeface="Canva Sans"/>
                <a:cs typeface="Canva Sans"/>
                <a:sym typeface="Canva Sans"/>
              </a:rPr>
              <a:t>Camera Module</a:t>
            </a:r>
          </a:p>
          <a:p>
            <a:pPr marL="885187" lvl="1" indent="-442594" algn="l">
              <a:lnSpc>
                <a:spcPts val="5739"/>
              </a:lnSpc>
              <a:spcBef>
                <a:spcPct val="0"/>
              </a:spcBef>
              <a:buFont typeface="Arial"/>
              <a:buChar char="•"/>
            </a:pPr>
            <a:r>
              <a:rPr lang="en-US" sz="4099">
                <a:solidFill>
                  <a:srgbClr val="000000"/>
                </a:solidFill>
                <a:latin typeface="Canva Sans"/>
                <a:ea typeface="Canva Sans"/>
                <a:cs typeface="Canva Sans"/>
                <a:sym typeface="Canva Sans"/>
              </a:rPr>
              <a:t>Microcontroller (Arduino)</a:t>
            </a:r>
          </a:p>
          <a:p>
            <a:pPr marL="885187" lvl="1" indent="-442594" algn="l">
              <a:lnSpc>
                <a:spcPts val="5739"/>
              </a:lnSpc>
              <a:spcBef>
                <a:spcPct val="0"/>
              </a:spcBef>
              <a:buFont typeface="Arial"/>
              <a:buChar char="•"/>
            </a:pPr>
            <a:r>
              <a:rPr lang="en-US" sz="4099">
                <a:solidFill>
                  <a:srgbClr val="000000"/>
                </a:solidFill>
                <a:latin typeface="Canva Sans"/>
                <a:ea typeface="Canva Sans"/>
                <a:cs typeface="Canva Sans"/>
                <a:sym typeface="Canva Sans"/>
              </a:rPr>
              <a:t>Servo Motor</a:t>
            </a:r>
          </a:p>
          <a:p>
            <a:pPr marL="885187" lvl="1" indent="-442594" algn="l">
              <a:lnSpc>
                <a:spcPts val="5739"/>
              </a:lnSpc>
              <a:spcBef>
                <a:spcPct val="0"/>
              </a:spcBef>
              <a:buFont typeface="Arial"/>
              <a:buChar char="•"/>
            </a:pPr>
            <a:r>
              <a:rPr lang="en-US" sz="4099">
                <a:solidFill>
                  <a:srgbClr val="000000"/>
                </a:solidFill>
                <a:latin typeface="Canva Sans"/>
                <a:ea typeface="Canva Sans"/>
                <a:cs typeface="Canva Sans"/>
                <a:sym typeface="Canva Sans"/>
              </a:rPr>
              <a:t>Ultrasonic Sensor</a:t>
            </a:r>
          </a:p>
          <a:p>
            <a:pPr marL="885187" lvl="1" indent="-442594" algn="l">
              <a:lnSpc>
                <a:spcPts val="5739"/>
              </a:lnSpc>
              <a:spcBef>
                <a:spcPct val="0"/>
              </a:spcBef>
              <a:buFont typeface="Arial"/>
              <a:buChar char="•"/>
            </a:pPr>
            <a:r>
              <a:rPr lang="en-US" sz="4099">
                <a:solidFill>
                  <a:srgbClr val="000000"/>
                </a:solidFill>
                <a:latin typeface="Canva Sans"/>
                <a:ea typeface="Canva Sans"/>
                <a:cs typeface="Canva Sans"/>
                <a:sym typeface="Canva Sans"/>
              </a:rPr>
              <a:t>Power Supply</a:t>
            </a:r>
          </a:p>
        </p:txBody>
      </p:sp>
      <p:sp>
        <p:nvSpPr>
          <p:cNvPr id="11" name="TextBox 1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775343" y="1753951"/>
            <a:ext cx="16737313" cy="7971795"/>
          </a:xfrm>
          <a:custGeom>
            <a:avLst/>
            <a:gdLst/>
            <a:ahLst/>
            <a:cxnLst/>
            <a:rect l="l" t="t" r="r" b="b"/>
            <a:pathLst>
              <a:path w="16737313" h="7971795">
                <a:moveTo>
                  <a:pt x="0" y="0"/>
                </a:moveTo>
                <a:lnTo>
                  <a:pt x="16737314" y="0"/>
                </a:lnTo>
                <a:lnTo>
                  <a:pt x="16737314" y="7971795"/>
                </a:lnTo>
                <a:lnTo>
                  <a:pt x="0" y="7971795"/>
                </a:lnTo>
                <a:lnTo>
                  <a:pt x="0" y="0"/>
                </a:lnTo>
                <a:close/>
              </a:path>
            </a:pathLst>
          </a:custGeom>
          <a:blipFill>
            <a:blip r:embed="rId2"/>
            <a:stretch>
              <a:fillRect l="-1962" t="-15743" r="-2945" b="-4299"/>
            </a:stretch>
          </a:blipFill>
        </p:spPr>
      </p:sp>
      <p:grpSp>
        <p:nvGrpSpPr>
          <p:cNvPr id="6" name="Group 6"/>
          <p:cNvGrpSpPr/>
          <p:nvPr/>
        </p:nvGrpSpPr>
        <p:grpSpPr>
          <a:xfrm>
            <a:off x="4404549" y="9725746"/>
            <a:ext cx="14052410" cy="873514"/>
            <a:chOff x="0" y="0"/>
            <a:chExt cx="3701046" cy="230061"/>
          </a:xfrm>
        </p:grpSpPr>
        <p:sp>
          <p:nvSpPr>
            <p:cNvPr id="7" name="Freeform 7"/>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8" name="TextBox 8"/>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9" name="Freeform 9"/>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3">
              <a:alphaModFix amt="9999"/>
            </a:blip>
            <a:stretch>
              <a:fillRect t="-3860" b="-3860"/>
            </a:stretch>
          </a:blipFill>
        </p:spPr>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
        <p:nvSpPr>
          <p:cNvPr id="11" name="TextBox 11"/>
          <p:cNvSpPr txBox="1"/>
          <p:nvPr/>
        </p:nvSpPr>
        <p:spPr>
          <a:xfrm>
            <a:off x="-565861" y="476111"/>
            <a:ext cx="13101030" cy="1526541"/>
          </a:xfrm>
          <a:prstGeom prst="rect">
            <a:avLst/>
          </a:prstGeom>
        </p:spPr>
        <p:txBody>
          <a:bodyPr lIns="0" tIns="0" rIns="0" bIns="0" rtlCol="0" anchor="t">
            <a:spAutoFit/>
          </a:bodyPr>
          <a:lstStyle/>
          <a:p>
            <a:pPr algn="ctr">
              <a:lnSpc>
                <a:spcPts val="12459"/>
              </a:lnSpc>
              <a:spcBef>
                <a:spcPct val="0"/>
              </a:spcBef>
            </a:pPr>
            <a:r>
              <a:rPr lang="en-US" sz="8899">
                <a:solidFill>
                  <a:srgbClr val="000000"/>
                </a:solidFill>
                <a:latin typeface="Bricolage Grotesque"/>
                <a:ea typeface="Bricolage Grotesque"/>
                <a:cs typeface="Bricolage Grotesque"/>
                <a:sym typeface="Bricolage Grotesque"/>
              </a:rPr>
              <a:t>System Architecture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851201" y="667078"/>
            <a:ext cx="16585599" cy="9039151"/>
          </a:xfrm>
          <a:custGeom>
            <a:avLst/>
            <a:gdLst/>
            <a:ahLst/>
            <a:cxnLst/>
            <a:rect l="l" t="t" r="r" b="b"/>
            <a:pathLst>
              <a:path w="16585599" h="9039151">
                <a:moveTo>
                  <a:pt x="0" y="0"/>
                </a:moveTo>
                <a:lnTo>
                  <a:pt x="16585598" y="0"/>
                </a:lnTo>
                <a:lnTo>
                  <a:pt x="16585598" y="9039151"/>
                </a:lnTo>
                <a:lnTo>
                  <a:pt x="0" y="9039151"/>
                </a:lnTo>
                <a:lnTo>
                  <a:pt x="0" y="0"/>
                </a:lnTo>
                <a:close/>
              </a:path>
            </a:pathLst>
          </a:custGeom>
          <a:blipFill>
            <a:blip r:embed="rId2"/>
            <a:stretch>
              <a:fillRect/>
            </a:stretch>
          </a:blipFill>
        </p:spPr>
      </p:sp>
      <p:sp>
        <p:nvSpPr>
          <p:cNvPr id="9" name="Freeform 9"/>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3">
              <a:alphaModFix amt="9999"/>
            </a:blip>
            <a:stretch>
              <a:fillRect t="-3860" b="-3860"/>
            </a:stretch>
          </a:blipFill>
        </p:spPr>
      </p:sp>
      <p:sp>
        <p:nvSpPr>
          <p:cNvPr id="10" name="Freeform 10"/>
          <p:cNvSpPr/>
          <p:nvPr/>
        </p:nvSpPr>
        <p:spPr>
          <a:xfrm>
            <a:off x="9799810" y="6845781"/>
            <a:ext cx="999177" cy="291672"/>
          </a:xfrm>
          <a:custGeom>
            <a:avLst/>
            <a:gdLst/>
            <a:ahLst/>
            <a:cxnLst/>
            <a:rect l="l" t="t" r="r" b="b"/>
            <a:pathLst>
              <a:path w="999177" h="291672">
                <a:moveTo>
                  <a:pt x="0" y="0"/>
                </a:moveTo>
                <a:lnTo>
                  <a:pt x="999177" y="0"/>
                </a:lnTo>
                <a:lnTo>
                  <a:pt x="999177" y="291673"/>
                </a:lnTo>
                <a:lnTo>
                  <a:pt x="0" y="291673"/>
                </a:lnTo>
                <a:lnTo>
                  <a:pt x="0" y="0"/>
                </a:lnTo>
                <a:close/>
              </a:path>
            </a:pathLst>
          </a:custGeom>
          <a:blipFill>
            <a:blip r:embed="rId4"/>
            <a:stretch>
              <a:fillRect t="-28855"/>
            </a:stretch>
          </a:blipFill>
        </p:spPr>
      </p:sp>
      <p:sp>
        <p:nvSpPr>
          <p:cNvPr id="11" name="Freeform 11"/>
          <p:cNvSpPr/>
          <p:nvPr/>
        </p:nvSpPr>
        <p:spPr>
          <a:xfrm>
            <a:off x="10142450" y="8734539"/>
            <a:ext cx="1313073" cy="230214"/>
          </a:xfrm>
          <a:custGeom>
            <a:avLst/>
            <a:gdLst/>
            <a:ahLst/>
            <a:cxnLst/>
            <a:rect l="l" t="t" r="r" b="b"/>
            <a:pathLst>
              <a:path w="1313073" h="230214">
                <a:moveTo>
                  <a:pt x="0" y="0"/>
                </a:moveTo>
                <a:lnTo>
                  <a:pt x="1313073" y="0"/>
                </a:lnTo>
                <a:lnTo>
                  <a:pt x="1313073" y="230214"/>
                </a:lnTo>
                <a:lnTo>
                  <a:pt x="0" y="230214"/>
                </a:lnTo>
                <a:lnTo>
                  <a:pt x="0" y="0"/>
                </a:lnTo>
                <a:close/>
              </a:path>
            </a:pathLst>
          </a:custGeom>
          <a:blipFill>
            <a:blip r:embed="rId5"/>
            <a:stretch>
              <a:fillRect/>
            </a:stretch>
          </a:blipFill>
        </p:spPr>
      </p:sp>
      <p:sp>
        <p:nvSpPr>
          <p:cNvPr id="12" name="Freeform 12"/>
          <p:cNvSpPr/>
          <p:nvPr/>
        </p:nvSpPr>
        <p:spPr>
          <a:xfrm>
            <a:off x="10117681" y="8849646"/>
            <a:ext cx="1263113" cy="408654"/>
          </a:xfrm>
          <a:custGeom>
            <a:avLst/>
            <a:gdLst/>
            <a:ahLst/>
            <a:cxnLst/>
            <a:rect l="l" t="t" r="r" b="b"/>
            <a:pathLst>
              <a:path w="1263113" h="408654">
                <a:moveTo>
                  <a:pt x="0" y="0"/>
                </a:moveTo>
                <a:lnTo>
                  <a:pt x="1263112" y="0"/>
                </a:lnTo>
                <a:lnTo>
                  <a:pt x="1263112" y="408654"/>
                </a:lnTo>
                <a:lnTo>
                  <a:pt x="0" y="408654"/>
                </a:lnTo>
                <a:lnTo>
                  <a:pt x="0" y="0"/>
                </a:lnTo>
                <a:close/>
              </a:path>
            </a:pathLst>
          </a:custGeom>
          <a:blipFill>
            <a:blip r:embed="rId6"/>
            <a:stretch>
              <a:fillRect/>
            </a:stretch>
          </a:blipFill>
        </p:spPr>
      </p:sp>
      <p:sp>
        <p:nvSpPr>
          <p:cNvPr id="13" name="Freeform 13"/>
          <p:cNvSpPr/>
          <p:nvPr/>
        </p:nvSpPr>
        <p:spPr>
          <a:xfrm>
            <a:off x="13686686" y="5982698"/>
            <a:ext cx="1100783" cy="404561"/>
          </a:xfrm>
          <a:custGeom>
            <a:avLst/>
            <a:gdLst/>
            <a:ahLst/>
            <a:cxnLst/>
            <a:rect l="l" t="t" r="r" b="b"/>
            <a:pathLst>
              <a:path w="1100783" h="404561">
                <a:moveTo>
                  <a:pt x="0" y="0"/>
                </a:moveTo>
                <a:lnTo>
                  <a:pt x="1100783" y="0"/>
                </a:lnTo>
                <a:lnTo>
                  <a:pt x="1100783" y="404561"/>
                </a:lnTo>
                <a:lnTo>
                  <a:pt x="0" y="404561"/>
                </a:lnTo>
                <a:lnTo>
                  <a:pt x="0" y="0"/>
                </a:lnTo>
                <a:close/>
              </a:path>
            </a:pathLst>
          </a:custGeom>
          <a:blipFill>
            <a:blip r:embed="rId7"/>
            <a:stretch>
              <a:fillRect/>
            </a:stretch>
          </a:blipFill>
        </p:spPr>
      </p:sp>
      <p:sp>
        <p:nvSpPr>
          <p:cNvPr id="14" name="TextBox 1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09685" y="504686"/>
            <a:ext cx="13207187" cy="1236345"/>
          </a:xfrm>
          <a:prstGeom prst="rect">
            <a:avLst/>
          </a:prstGeom>
        </p:spPr>
        <p:txBody>
          <a:bodyPr lIns="0" tIns="0" rIns="0" bIns="0" rtlCol="0" anchor="t">
            <a:spAutoFit/>
          </a:bodyPr>
          <a:lstStyle/>
          <a:p>
            <a:pPr marL="0" lvl="0" indent="0" algn="ctr">
              <a:lnSpc>
                <a:spcPts val="10080"/>
              </a:lnSpc>
              <a:spcBef>
                <a:spcPct val="0"/>
              </a:spcBef>
            </a:pPr>
            <a:r>
              <a:rPr lang="en-US" sz="7200">
                <a:solidFill>
                  <a:srgbClr val="000000"/>
                </a:solidFill>
                <a:latin typeface="Bricolage Grotesque"/>
                <a:ea typeface="Bricolage Grotesque"/>
                <a:cs typeface="Bricolage Grotesque"/>
                <a:sym typeface="Bricolage Grotesque"/>
              </a:rPr>
              <a:t>Working Methodology</a:t>
            </a:r>
          </a:p>
        </p:txBody>
      </p:sp>
      <p:sp>
        <p:nvSpPr>
          <p:cNvPr id="3" name="TextBox 3"/>
          <p:cNvSpPr txBox="1"/>
          <p:nvPr/>
        </p:nvSpPr>
        <p:spPr>
          <a:xfrm>
            <a:off x="1028700" y="1518285"/>
            <a:ext cx="16230600" cy="8213089"/>
          </a:xfrm>
          <a:prstGeom prst="rect">
            <a:avLst/>
          </a:prstGeom>
        </p:spPr>
        <p:txBody>
          <a:bodyPr lIns="0" tIns="0" rIns="0" bIns="0" rtlCol="0" anchor="t">
            <a:spAutoFit/>
          </a:bodyPr>
          <a:lstStyle/>
          <a:p>
            <a:pPr algn="l">
              <a:lnSpc>
                <a:spcPts val="4060"/>
              </a:lnSpc>
            </a:pPr>
            <a:r>
              <a:rPr lang="en-US" sz="2900">
                <a:solidFill>
                  <a:srgbClr val="000000"/>
                </a:solidFill>
                <a:latin typeface="Canva Sans"/>
                <a:ea typeface="Canva Sans"/>
                <a:cs typeface="Canva Sans"/>
                <a:sym typeface="Canva Sans"/>
              </a:rPr>
              <a:t>The proposed system operates through a combination of computer vision, sensor detection, and mechanical actuation. The overall working process is explained in the following steps.</a:t>
            </a:r>
          </a:p>
          <a:p>
            <a:pPr algn="l">
              <a:lnSpc>
                <a:spcPts val="4060"/>
              </a:lnSpc>
            </a:pPr>
            <a:r>
              <a:rPr lang="en-US" sz="2900">
                <a:solidFill>
                  <a:srgbClr val="000000"/>
                </a:solidFill>
                <a:latin typeface="Canva Sans"/>
                <a:ea typeface="Canva Sans"/>
                <a:cs typeface="Canva Sans"/>
                <a:sym typeface="Canva Sans"/>
              </a:rPr>
              <a:t>1. Object Monitoring</a:t>
            </a:r>
          </a:p>
          <a:p>
            <a:pPr marL="626115" lvl="1" indent="-313058" algn="l">
              <a:lnSpc>
                <a:spcPts val="4060"/>
              </a:lnSpc>
              <a:buFont typeface="Arial"/>
              <a:buChar char="•"/>
            </a:pPr>
            <a:r>
              <a:rPr lang="en-US" sz="2900">
                <a:solidFill>
                  <a:srgbClr val="000000"/>
                </a:solidFill>
                <a:latin typeface="Canva Sans"/>
                <a:ea typeface="Canva Sans"/>
                <a:cs typeface="Canva Sans"/>
                <a:sym typeface="Canva Sans"/>
              </a:rPr>
              <a:t>The camera module continuously captures real-time video of the surrounding area. The video frames are sent to the processing unit for analysis.</a:t>
            </a:r>
          </a:p>
          <a:p>
            <a:pPr algn="l">
              <a:lnSpc>
                <a:spcPts val="4060"/>
              </a:lnSpc>
            </a:pPr>
            <a:r>
              <a:rPr lang="en-US" sz="2900">
                <a:solidFill>
                  <a:srgbClr val="000000"/>
                </a:solidFill>
                <a:latin typeface="Canva Sans"/>
                <a:ea typeface="Canva Sans"/>
                <a:cs typeface="Canva Sans"/>
                <a:sym typeface="Canva Sans"/>
              </a:rPr>
              <a:t>2. Image Processing</a:t>
            </a:r>
          </a:p>
          <a:p>
            <a:pPr marL="626115" lvl="1" indent="-313058" algn="l">
              <a:lnSpc>
                <a:spcPts val="4060"/>
              </a:lnSpc>
              <a:buFont typeface="Arial"/>
              <a:buChar char="•"/>
            </a:pPr>
            <a:r>
              <a:rPr lang="en-US" sz="2900">
                <a:solidFill>
                  <a:srgbClr val="000000"/>
                </a:solidFill>
                <a:latin typeface="Canva Sans"/>
                <a:ea typeface="Canva Sans"/>
                <a:cs typeface="Canva Sans"/>
                <a:sym typeface="Canva Sans"/>
              </a:rPr>
              <a:t>Each frame from the camera is processed using YOLOv11 object detection algorithm. The model analyzes the image and identifies objects present in the frame.</a:t>
            </a:r>
          </a:p>
          <a:p>
            <a:pPr algn="l">
              <a:lnSpc>
                <a:spcPts val="4060"/>
              </a:lnSpc>
            </a:pPr>
            <a:r>
              <a:rPr lang="en-US" sz="2900">
                <a:solidFill>
                  <a:srgbClr val="000000"/>
                </a:solidFill>
                <a:latin typeface="Canva Sans"/>
                <a:ea typeface="Canva Sans"/>
                <a:cs typeface="Canva Sans"/>
                <a:sym typeface="Canva Sans"/>
              </a:rPr>
              <a:t>3. Object Detection and Classification</a:t>
            </a:r>
          </a:p>
          <a:p>
            <a:pPr algn="l">
              <a:lnSpc>
                <a:spcPts val="4060"/>
              </a:lnSpc>
            </a:pPr>
            <a:r>
              <a:rPr lang="en-US" sz="2900">
                <a:solidFill>
                  <a:srgbClr val="000000"/>
                </a:solidFill>
                <a:latin typeface="Canva Sans"/>
                <a:ea typeface="Canva Sans"/>
                <a:cs typeface="Canva Sans"/>
                <a:sym typeface="Canva Sans"/>
              </a:rPr>
              <a:t>The YOLOv11 model detects and classifies only the trained objects, which include:</a:t>
            </a:r>
          </a:p>
          <a:p>
            <a:pPr marL="626115" lvl="1" indent="-313058" algn="l">
              <a:lnSpc>
                <a:spcPts val="4060"/>
              </a:lnSpc>
              <a:buFont typeface="Arial"/>
              <a:buChar char="•"/>
            </a:pPr>
            <a:r>
              <a:rPr lang="en-US" sz="2900">
                <a:solidFill>
                  <a:srgbClr val="000000"/>
                </a:solidFill>
                <a:latin typeface="Canva Sans"/>
                <a:ea typeface="Canva Sans"/>
                <a:cs typeface="Canva Sans"/>
                <a:sym typeface="Canva Sans"/>
              </a:rPr>
              <a:t>Mobile Phone</a:t>
            </a:r>
          </a:p>
          <a:p>
            <a:pPr marL="626115" lvl="1" indent="-313058" algn="l">
              <a:lnSpc>
                <a:spcPts val="4060"/>
              </a:lnSpc>
              <a:buFont typeface="Arial"/>
              <a:buChar char="•"/>
            </a:pPr>
            <a:r>
              <a:rPr lang="en-US" sz="2900">
                <a:solidFill>
                  <a:srgbClr val="000000"/>
                </a:solidFill>
                <a:latin typeface="Canva Sans"/>
                <a:ea typeface="Canva Sans"/>
                <a:cs typeface="Canva Sans"/>
                <a:sym typeface="Canva Sans"/>
              </a:rPr>
              <a:t>ID Card</a:t>
            </a:r>
          </a:p>
          <a:p>
            <a:pPr marL="626115" lvl="1" indent="-313058" algn="l">
              <a:lnSpc>
                <a:spcPts val="4060"/>
              </a:lnSpc>
              <a:buFont typeface="Arial"/>
              <a:buChar char="•"/>
            </a:pPr>
            <a:r>
              <a:rPr lang="en-US" sz="2900">
                <a:solidFill>
                  <a:srgbClr val="000000"/>
                </a:solidFill>
                <a:latin typeface="Canva Sans"/>
                <a:ea typeface="Canva Sans"/>
                <a:cs typeface="Canva Sans"/>
                <a:sym typeface="Canva Sans"/>
              </a:rPr>
              <a:t>Water Bottle</a:t>
            </a:r>
          </a:p>
          <a:p>
            <a:pPr algn="l">
              <a:lnSpc>
                <a:spcPts val="4060"/>
              </a:lnSpc>
            </a:pPr>
            <a:r>
              <a:rPr lang="en-US" sz="2900">
                <a:solidFill>
                  <a:srgbClr val="000000"/>
                </a:solidFill>
                <a:latin typeface="Canva Sans"/>
                <a:ea typeface="Canva Sans"/>
                <a:cs typeface="Canva Sans"/>
                <a:sym typeface="Canva Sans"/>
              </a:rPr>
              <a:t>When any of these objects are detected, the system highlights them with bounding boxes and identifies their position in the frame.</a:t>
            </a: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grpSp>
        <p:nvGrpSpPr>
          <p:cNvPr id="5" name="Group 5"/>
          <p:cNvGrpSpPr/>
          <p:nvPr/>
        </p:nvGrpSpPr>
        <p:grpSpPr>
          <a:xfrm>
            <a:off x="-194305" y="-225953"/>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a:off x="4404549" y="9725746"/>
            <a:ext cx="14052410" cy="873514"/>
            <a:chOff x="0" y="0"/>
            <a:chExt cx="3701046" cy="230061"/>
          </a:xfrm>
        </p:grpSpPr>
        <p:sp>
          <p:nvSpPr>
            <p:cNvPr id="9" name="Freeform 9"/>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10" name="TextBox 10"/>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09685" y="504686"/>
            <a:ext cx="13207187" cy="1236345"/>
          </a:xfrm>
          <a:prstGeom prst="rect">
            <a:avLst/>
          </a:prstGeom>
        </p:spPr>
        <p:txBody>
          <a:bodyPr lIns="0" tIns="0" rIns="0" bIns="0" rtlCol="0" anchor="t">
            <a:spAutoFit/>
          </a:bodyPr>
          <a:lstStyle/>
          <a:p>
            <a:pPr marL="0" lvl="0" indent="0" algn="ctr">
              <a:lnSpc>
                <a:spcPts val="10080"/>
              </a:lnSpc>
              <a:spcBef>
                <a:spcPct val="0"/>
              </a:spcBef>
            </a:pPr>
            <a:r>
              <a:rPr lang="en-US" sz="7200">
                <a:solidFill>
                  <a:srgbClr val="000000"/>
                </a:solidFill>
                <a:latin typeface="Bricolage Grotesque"/>
                <a:ea typeface="Bricolage Grotesque"/>
                <a:cs typeface="Bricolage Grotesque"/>
                <a:sym typeface="Bricolage Grotesque"/>
              </a:rPr>
              <a:t>Working Methodology</a:t>
            </a:r>
          </a:p>
        </p:txBody>
      </p:sp>
      <p:sp>
        <p:nvSpPr>
          <p:cNvPr id="3" name="TextBox 3"/>
          <p:cNvSpPr txBox="1"/>
          <p:nvPr/>
        </p:nvSpPr>
        <p:spPr>
          <a:xfrm>
            <a:off x="1028700" y="1683881"/>
            <a:ext cx="16230600" cy="7843520"/>
          </a:xfrm>
          <a:prstGeom prst="rect">
            <a:avLst/>
          </a:prstGeom>
        </p:spPr>
        <p:txBody>
          <a:bodyPr lIns="0" tIns="0" rIns="0" bIns="0" rtlCol="0" anchor="t">
            <a:spAutoFit/>
          </a:bodyPr>
          <a:lstStyle/>
          <a:p>
            <a:pPr algn="l">
              <a:lnSpc>
                <a:spcPts val="4480"/>
              </a:lnSpc>
            </a:pPr>
            <a:r>
              <a:rPr lang="en-US" sz="3200">
                <a:solidFill>
                  <a:srgbClr val="000000"/>
                </a:solidFill>
                <a:latin typeface="Canva Sans"/>
                <a:ea typeface="Canva Sans"/>
                <a:cs typeface="Canva Sans"/>
                <a:sym typeface="Canva Sans"/>
              </a:rPr>
              <a:t>4. Target Position Identification</a:t>
            </a:r>
          </a:p>
          <a:p>
            <a:pPr algn="l">
              <a:lnSpc>
                <a:spcPts val="4480"/>
              </a:lnSpc>
            </a:pPr>
            <a:r>
              <a:rPr lang="en-US" sz="3200">
                <a:solidFill>
                  <a:srgbClr val="000000"/>
                </a:solidFill>
                <a:latin typeface="Canva Sans"/>
                <a:ea typeface="Canva Sans"/>
                <a:cs typeface="Canva Sans"/>
                <a:sym typeface="Canva Sans"/>
              </a:rPr>
              <a:t>After detection, the coordinates of the detected object are obtained from the model output. These coordinates are used to determine the direction in which the system must move to align with the object.</a:t>
            </a:r>
          </a:p>
          <a:p>
            <a:pPr algn="l">
              <a:lnSpc>
                <a:spcPts val="4480"/>
              </a:lnSpc>
            </a:pPr>
            <a:r>
              <a:rPr lang="en-US" sz="3200">
                <a:solidFill>
                  <a:srgbClr val="000000"/>
                </a:solidFill>
                <a:latin typeface="Canva Sans"/>
                <a:ea typeface="Canva Sans"/>
                <a:cs typeface="Canva Sans"/>
                <a:sym typeface="Canva Sans"/>
              </a:rPr>
              <a:t>5. Servo Motor Control</a:t>
            </a:r>
          </a:p>
          <a:p>
            <a:pPr algn="l">
              <a:lnSpc>
                <a:spcPts val="4480"/>
              </a:lnSpc>
            </a:pPr>
            <a:r>
              <a:rPr lang="en-US" sz="3200">
                <a:solidFill>
                  <a:srgbClr val="000000"/>
                </a:solidFill>
                <a:latin typeface="Canva Sans"/>
                <a:ea typeface="Canva Sans"/>
                <a:cs typeface="Canva Sans"/>
                <a:sym typeface="Canva Sans"/>
              </a:rPr>
              <a:t>The detected target position is sent to the microcontroller, which controls the servo motor. The servo motor rotates to align the shooting mechanism toward the detected object.</a:t>
            </a:r>
          </a:p>
          <a:p>
            <a:pPr algn="l">
              <a:lnSpc>
                <a:spcPts val="4480"/>
              </a:lnSpc>
            </a:pPr>
            <a:r>
              <a:rPr lang="en-US" sz="3200">
                <a:solidFill>
                  <a:srgbClr val="000000"/>
                </a:solidFill>
                <a:latin typeface="Canva Sans"/>
                <a:ea typeface="Canva Sans"/>
                <a:cs typeface="Canva Sans"/>
                <a:sym typeface="Canva Sans"/>
              </a:rPr>
              <a:t>6. Manual/Auto Shooting Mechanism</a:t>
            </a:r>
          </a:p>
          <a:p>
            <a:pPr algn="l">
              <a:lnSpc>
                <a:spcPts val="4480"/>
              </a:lnSpc>
            </a:pPr>
            <a:r>
              <a:rPr lang="en-US" sz="3200">
                <a:solidFill>
                  <a:srgbClr val="000000"/>
                </a:solidFill>
                <a:latin typeface="Canva Sans"/>
                <a:ea typeface="Canva Sans"/>
                <a:cs typeface="Canva Sans"/>
                <a:sym typeface="Canva Sans"/>
              </a:rPr>
              <a:t>Once the target is aligned, the system waits for user confirmation if in manual mode.</a:t>
            </a:r>
          </a:p>
          <a:p>
            <a:pPr algn="l">
              <a:lnSpc>
                <a:spcPts val="4480"/>
              </a:lnSpc>
            </a:pPr>
            <a:r>
              <a:rPr lang="en-US" sz="3200">
                <a:solidFill>
                  <a:srgbClr val="000000"/>
                </a:solidFill>
                <a:latin typeface="Canva Sans"/>
                <a:ea typeface="Canva Sans"/>
                <a:cs typeface="Canva Sans"/>
                <a:sym typeface="Canva Sans"/>
              </a:rPr>
              <a:t> A manual shoot button is provided, and when pressed, it activates the trigger mechanism to perform the shooting action. Else in auto mode it fires immediately after detecting the target without any delay.</a:t>
            </a: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grpSp>
        <p:nvGrpSpPr>
          <p:cNvPr id="5" name="Group 5"/>
          <p:cNvGrpSpPr/>
          <p:nvPr/>
        </p:nvGrpSpPr>
        <p:grpSpPr>
          <a:xfrm>
            <a:off x="-194305" y="-225953"/>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a:off x="4404549" y="9725746"/>
            <a:ext cx="14052410" cy="873514"/>
            <a:chOff x="0" y="0"/>
            <a:chExt cx="3701046" cy="230061"/>
          </a:xfrm>
        </p:grpSpPr>
        <p:sp>
          <p:nvSpPr>
            <p:cNvPr id="9" name="Freeform 9"/>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10" name="TextBox 10"/>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76200" y="2317743"/>
            <a:ext cx="18121730" cy="6138736"/>
          </a:xfrm>
          <a:custGeom>
            <a:avLst/>
            <a:gdLst/>
            <a:ahLst/>
            <a:cxnLst/>
            <a:rect l="l" t="t" r="r" b="b"/>
            <a:pathLst>
              <a:path w="18121730" h="6138736">
                <a:moveTo>
                  <a:pt x="0" y="0"/>
                </a:moveTo>
                <a:lnTo>
                  <a:pt x="18121730" y="0"/>
                </a:lnTo>
                <a:lnTo>
                  <a:pt x="18121730" y="6138736"/>
                </a:lnTo>
                <a:lnTo>
                  <a:pt x="0" y="6138736"/>
                </a:lnTo>
                <a:lnTo>
                  <a:pt x="0" y="0"/>
                </a:lnTo>
                <a:close/>
              </a:path>
            </a:pathLst>
          </a:custGeom>
          <a:blipFill>
            <a:blip r:embed="rId2"/>
            <a:stretch>
              <a:fillRect/>
            </a:stretch>
          </a:blipFill>
        </p:spPr>
      </p:sp>
      <p:sp>
        <p:nvSpPr>
          <p:cNvPr id="9" name="Freeform 9"/>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3">
              <a:alphaModFix amt="9999"/>
            </a:blip>
            <a:stretch>
              <a:fillRect t="-3860" b="-3860"/>
            </a:stretch>
          </a:blipFill>
        </p:spPr>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
        <p:nvSpPr>
          <p:cNvPr id="11" name="TextBox 11"/>
          <p:cNvSpPr txBox="1"/>
          <p:nvPr/>
        </p:nvSpPr>
        <p:spPr>
          <a:xfrm>
            <a:off x="0" y="857250"/>
            <a:ext cx="15002040" cy="1460493"/>
          </a:xfrm>
          <a:prstGeom prst="rect">
            <a:avLst/>
          </a:prstGeom>
        </p:spPr>
        <p:txBody>
          <a:bodyPr lIns="0" tIns="0" rIns="0" bIns="0" rtlCol="0" anchor="t">
            <a:spAutoFit/>
          </a:bodyPr>
          <a:lstStyle/>
          <a:p>
            <a:pPr algn="ctr">
              <a:lnSpc>
                <a:spcPts val="11900"/>
              </a:lnSpc>
              <a:spcBef>
                <a:spcPct val="0"/>
              </a:spcBef>
            </a:pPr>
            <a:r>
              <a:rPr lang="en-US" sz="8500">
                <a:solidFill>
                  <a:srgbClr val="000000"/>
                </a:solidFill>
                <a:latin typeface="Bricolage Grotesque"/>
                <a:ea typeface="Bricolage Grotesque"/>
                <a:cs typeface="Bricolage Grotesque"/>
                <a:sym typeface="Bricolage Grotesque"/>
              </a:rPr>
              <a:t>Simulink- Object out of range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630430" y="2189638"/>
            <a:ext cx="8513570" cy="6832140"/>
          </a:xfrm>
          <a:custGeom>
            <a:avLst/>
            <a:gdLst/>
            <a:ahLst/>
            <a:cxnLst/>
            <a:rect l="l" t="t" r="r" b="b"/>
            <a:pathLst>
              <a:path w="8513570" h="6832140">
                <a:moveTo>
                  <a:pt x="0" y="0"/>
                </a:moveTo>
                <a:lnTo>
                  <a:pt x="8513570" y="0"/>
                </a:lnTo>
                <a:lnTo>
                  <a:pt x="8513570" y="6832139"/>
                </a:lnTo>
                <a:lnTo>
                  <a:pt x="0" y="6832139"/>
                </a:lnTo>
                <a:lnTo>
                  <a:pt x="0" y="0"/>
                </a:lnTo>
                <a:close/>
              </a:path>
            </a:pathLst>
          </a:custGeom>
          <a:blipFill>
            <a:blip r:embed="rId2"/>
            <a:stretch>
              <a:fillRect/>
            </a:stretch>
          </a:blipFill>
        </p:spPr>
      </p:sp>
      <p:sp>
        <p:nvSpPr>
          <p:cNvPr id="9" name="Freeform 9"/>
          <p:cNvSpPr/>
          <p:nvPr/>
        </p:nvSpPr>
        <p:spPr>
          <a:xfrm>
            <a:off x="9360765" y="2189638"/>
            <a:ext cx="8513570" cy="6832140"/>
          </a:xfrm>
          <a:custGeom>
            <a:avLst/>
            <a:gdLst/>
            <a:ahLst/>
            <a:cxnLst/>
            <a:rect l="l" t="t" r="r" b="b"/>
            <a:pathLst>
              <a:path w="8513570" h="6832140">
                <a:moveTo>
                  <a:pt x="0" y="0"/>
                </a:moveTo>
                <a:lnTo>
                  <a:pt x="8513570" y="0"/>
                </a:lnTo>
                <a:lnTo>
                  <a:pt x="8513570" y="6832139"/>
                </a:lnTo>
                <a:lnTo>
                  <a:pt x="0" y="6832139"/>
                </a:lnTo>
                <a:lnTo>
                  <a:pt x="0" y="0"/>
                </a:lnTo>
                <a:close/>
              </a:path>
            </a:pathLst>
          </a:custGeom>
          <a:blipFill>
            <a:blip r:embed="rId3"/>
            <a:stretch>
              <a:fillRect/>
            </a:stretch>
          </a:blipFill>
        </p:spPr>
      </p:sp>
      <p:sp>
        <p:nvSpPr>
          <p:cNvPr id="10" name="Freeform 10"/>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4">
              <a:alphaModFix amt="9999"/>
            </a:blip>
            <a:stretch>
              <a:fillRect t="-3860" b="-3860"/>
            </a:stretch>
          </a:blipFill>
        </p:spPr>
      </p:sp>
      <p:sp>
        <p:nvSpPr>
          <p:cNvPr id="11" name="TextBox 1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
        <p:nvSpPr>
          <p:cNvPr id="12" name="TextBox 12"/>
          <p:cNvSpPr txBox="1"/>
          <p:nvPr/>
        </p:nvSpPr>
        <p:spPr>
          <a:xfrm>
            <a:off x="0" y="476111"/>
            <a:ext cx="8986672" cy="1477004"/>
          </a:xfrm>
          <a:prstGeom prst="rect">
            <a:avLst/>
          </a:prstGeom>
        </p:spPr>
        <p:txBody>
          <a:bodyPr lIns="0" tIns="0" rIns="0" bIns="0" rtlCol="0" anchor="t">
            <a:spAutoFit/>
          </a:bodyPr>
          <a:lstStyle/>
          <a:p>
            <a:pPr algn="ctr">
              <a:lnSpc>
                <a:spcPts val="12040"/>
              </a:lnSpc>
              <a:spcBef>
                <a:spcPct val="0"/>
              </a:spcBef>
            </a:pPr>
            <a:r>
              <a:rPr lang="en-US" sz="8600">
                <a:solidFill>
                  <a:srgbClr val="000000"/>
                </a:solidFill>
                <a:latin typeface="Bricolage Grotesque"/>
                <a:ea typeface="Bricolage Grotesque"/>
                <a:cs typeface="Bricolage Grotesque"/>
                <a:sym typeface="Bricolage Grotesque"/>
              </a:rPr>
              <a:t>OBSERVATIONS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0" y="2320290"/>
            <a:ext cx="18456958" cy="5646420"/>
          </a:xfrm>
          <a:custGeom>
            <a:avLst/>
            <a:gdLst/>
            <a:ahLst/>
            <a:cxnLst/>
            <a:rect l="l" t="t" r="r" b="b"/>
            <a:pathLst>
              <a:path w="18456958" h="5646420">
                <a:moveTo>
                  <a:pt x="0" y="0"/>
                </a:moveTo>
                <a:lnTo>
                  <a:pt x="18456958" y="0"/>
                </a:lnTo>
                <a:lnTo>
                  <a:pt x="18456958" y="5646420"/>
                </a:lnTo>
                <a:lnTo>
                  <a:pt x="0" y="5646420"/>
                </a:lnTo>
                <a:lnTo>
                  <a:pt x="0" y="0"/>
                </a:lnTo>
                <a:close/>
              </a:path>
            </a:pathLst>
          </a:custGeom>
          <a:blipFill>
            <a:blip r:embed="rId2"/>
            <a:stretch>
              <a:fillRect t="-461" b="-461"/>
            </a:stretch>
          </a:blipFill>
        </p:spPr>
      </p:sp>
      <p:sp>
        <p:nvSpPr>
          <p:cNvPr id="9" name="Freeform 9"/>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3">
              <a:alphaModFix amt="9999"/>
            </a:blip>
            <a:stretch>
              <a:fillRect t="-3860" b="-3860"/>
            </a:stretch>
          </a:blipFill>
        </p:spPr>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
        <p:nvSpPr>
          <p:cNvPr id="11" name="TextBox 11"/>
          <p:cNvSpPr txBox="1"/>
          <p:nvPr/>
        </p:nvSpPr>
        <p:spPr>
          <a:xfrm>
            <a:off x="0" y="859797"/>
            <a:ext cx="12763864" cy="1460493"/>
          </a:xfrm>
          <a:prstGeom prst="rect">
            <a:avLst/>
          </a:prstGeom>
        </p:spPr>
        <p:txBody>
          <a:bodyPr lIns="0" tIns="0" rIns="0" bIns="0" rtlCol="0" anchor="t">
            <a:spAutoFit/>
          </a:bodyPr>
          <a:lstStyle/>
          <a:p>
            <a:pPr algn="ctr">
              <a:lnSpc>
                <a:spcPts val="11900"/>
              </a:lnSpc>
              <a:spcBef>
                <a:spcPct val="0"/>
              </a:spcBef>
            </a:pPr>
            <a:r>
              <a:rPr lang="en-US" sz="8500">
                <a:solidFill>
                  <a:srgbClr val="000000"/>
                </a:solidFill>
                <a:latin typeface="Bricolage Grotesque"/>
                <a:ea typeface="Bricolage Grotesque"/>
                <a:cs typeface="Bricolage Grotesque"/>
                <a:sym typeface="Bricolage Grotesque"/>
              </a:rPr>
              <a:t>Simulink Object in range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630430" y="2189638"/>
            <a:ext cx="8513570" cy="6832140"/>
          </a:xfrm>
          <a:custGeom>
            <a:avLst/>
            <a:gdLst/>
            <a:ahLst/>
            <a:cxnLst/>
            <a:rect l="l" t="t" r="r" b="b"/>
            <a:pathLst>
              <a:path w="8513570" h="6832140">
                <a:moveTo>
                  <a:pt x="0" y="0"/>
                </a:moveTo>
                <a:lnTo>
                  <a:pt x="8513570" y="0"/>
                </a:lnTo>
                <a:lnTo>
                  <a:pt x="8513570" y="6832139"/>
                </a:lnTo>
                <a:lnTo>
                  <a:pt x="0" y="6832139"/>
                </a:lnTo>
                <a:lnTo>
                  <a:pt x="0" y="0"/>
                </a:lnTo>
                <a:close/>
              </a:path>
            </a:pathLst>
          </a:custGeom>
          <a:blipFill>
            <a:blip r:embed="rId2"/>
            <a:stretch>
              <a:fillRect/>
            </a:stretch>
          </a:blipFill>
        </p:spPr>
      </p:sp>
      <p:sp>
        <p:nvSpPr>
          <p:cNvPr id="9" name="Freeform 9"/>
          <p:cNvSpPr/>
          <p:nvPr/>
        </p:nvSpPr>
        <p:spPr>
          <a:xfrm>
            <a:off x="9417353" y="2189638"/>
            <a:ext cx="8513570" cy="6832140"/>
          </a:xfrm>
          <a:custGeom>
            <a:avLst/>
            <a:gdLst/>
            <a:ahLst/>
            <a:cxnLst/>
            <a:rect l="l" t="t" r="r" b="b"/>
            <a:pathLst>
              <a:path w="8513570" h="6832140">
                <a:moveTo>
                  <a:pt x="0" y="0"/>
                </a:moveTo>
                <a:lnTo>
                  <a:pt x="8513570" y="0"/>
                </a:lnTo>
                <a:lnTo>
                  <a:pt x="8513570" y="6832139"/>
                </a:lnTo>
                <a:lnTo>
                  <a:pt x="0" y="6832139"/>
                </a:lnTo>
                <a:lnTo>
                  <a:pt x="0" y="0"/>
                </a:lnTo>
                <a:close/>
              </a:path>
            </a:pathLst>
          </a:custGeom>
          <a:blipFill>
            <a:blip r:embed="rId3"/>
            <a:stretch>
              <a:fillRect/>
            </a:stretch>
          </a:blipFill>
        </p:spPr>
      </p:sp>
      <p:sp>
        <p:nvSpPr>
          <p:cNvPr id="10" name="Freeform 10"/>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4">
              <a:alphaModFix amt="9999"/>
            </a:blip>
            <a:stretch>
              <a:fillRect t="-3860" b="-3860"/>
            </a:stretch>
          </a:blipFill>
        </p:spPr>
      </p:sp>
      <p:sp>
        <p:nvSpPr>
          <p:cNvPr id="11" name="TextBox 1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
        <p:nvSpPr>
          <p:cNvPr id="12" name="TextBox 12"/>
          <p:cNvSpPr txBox="1"/>
          <p:nvPr/>
        </p:nvSpPr>
        <p:spPr>
          <a:xfrm>
            <a:off x="0" y="476111"/>
            <a:ext cx="8929283" cy="1477004"/>
          </a:xfrm>
          <a:prstGeom prst="rect">
            <a:avLst/>
          </a:prstGeom>
        </p:spPr>
        <p:txBody>
          <a:bodyPr lIns="0" tIns="0" rIns="0" bIns="0" rtlCol="0" anchor="t">
            <a:spAutoFit/>
          </a:bodyPr>
          <a:lstStyle/>
          <a:p>
            <a:pPr algn="ctr">
              <a:lnSpc>
                <a:spcPts val="12040"/>
              </a:lnSpc>
              <a:spcBef>
                <a:spcPct val="0"/>
              </a:spcBef>
            </a:pPr>
            <a:r>
              <a:rPr lang="en-US" sz="8600">
                <a:solidFill>
                  <a:srgbClr val="000000"/>
                </a:solidFill>
                <a:latin typeface="Bricolage Grotesque"/>
                <a:ea typeface="Bricolage Grotesque"/>
                <a:cs typeface="Bricolage Grotesque"/>
                <a:sym typeface="Bricolage Grotesque"/>
              </a:rPr>
              <a:t>OBSERVATIONS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58007" y="883095"/>
            <a:ext cx="21083693" cy="1236345"/>
          </a:xfrm>
          <a:prstGeom prst="rect">
            <a:avLst/>
          </a:prstGeom>
        </p:spPr>
        <p:txBody>
          <a:bodyPr lIns="0" tIns="0" rIns="0" bIns="0" rtlCol="0" anchor="t">
            <a:spAutoFit/>
          </a:bodyPr>
          <a:lstStyle/>
          <a:p>
            <a:pPr marL="0" lvl="0" indent="0" algn="ctr">
              <a:lnSpc>
                <a:spcPts val="10080"/>
              </a:lnSpc>
              <a:spcBef>
                <a:spcPct val="0"/>
              </a:spcBef>
            </a:pPr>
            <a:r>
              <a:rPr lang="en-US" sz="7200">
                <a:solidFill>
                  <a:srgbClr val="000000"/>
                </a:solidFill>
                <a:latin typeface="Bricolage Grotesque"/>
                <a:ea typeface="Bricolage Grotesque"/>
                <a:cs typeface="Bricolage Grotesque"/>
                <a:sym typeface="Bricolage Grotesque"/>
              </a:rPr>
              <a:t>Remote Monitoring via Telegram Bot</a:t>
            </a:r>
          </a:p>
        </p:txBody>
      </p:sp>
      <p:sp>
        <p:nvSpPr>
          <p:cNvPr id="3" name="TextBox 3"/>
          <p:cNvSpPr txBox="1"/>
          <p:nvPr/>
        </p:nvSpPr>
        <p:spPr>
          <a:xfrm>
            <a:off x="1028700" y="2176590"/>
            <a:ext cx="16230600" cy="8248649"/>
          </a:xfrm>
          <a:prstGeom prst="rect">
            <a:avLst/>
          </a:prstGeom>
        </p:spPr>
        <p:txBody>
          <a:bodyPr lIns="0" tIns="0" rIns="0" bIns="0" rtlCol="0" anchor="t">
            <a:spAutoFit/>
          </a:bodyPr>
          <a:lstStyle/>
          <a:p>
            <a:pPr algn="l">
              <a:lnSpc>
                <a:spcPts val="4200"/>
              </a:lnSpc>
            </a:pPr>
            <a:r>
              <a:rPr lang="en-US" sz="3000">
                <a:solidFill>
                  <a:srgbClr val="000000"/>
                </a:solidFill>
                <a:latin typeface="Canva Sans"/>
                <a:ea typeface="Canva Sans"/>
                <a:cs typeface="Canva Sans"/>
                <a:sym typeface="Canva Sans"/>
              </a:rPr>
              <a:t>What it does:</a:t>
            </a:r>
          </a:p>
          <a:p>
            <a:pPr marL="647705" lvl="1" indent="-323852" algn="l">
              <a:lnSpc>
                <a:spcPts val="4200"/>
              </a:lnSpc>
              <a:buFont typeface="Arial"/>
              <a:buChar char="•"/>
            </a:pPr>
            <a:r>
              <a:rPr lang="en-US" sz="3000">
                <a:solidFill>
                  <a:srgbClr val="000000"/>
                </a:solidFill>
                <a:latin typeface="Canva Sans"/>
                <a:ea typeface="Canva Sans"/>
                <a:cs typeface="Canva Sans"/>
                <a:sym typeface="Canva Sans"/>
              </a:rPr>
              <a:t>On confirmed target fire → sends instant Telegram message with timestamp</a:t>
            </a:r>
          </a:p>
          <a:p>
            <a:pPr marL="647705" lvl="1" indent="-323852" algn="l">
              <a:lnSpc>
                <a:spcPts val="4200"/>
              </a:lnSpc>
              <a:buFont typeface="Arial"/>
              <a:buChar char="•"/>
            </a:pPr>
            <a:r>
              <a:rPr lang="en-US" sz="3000">
                <a:solidFill>
                  <a:srgbClr val="000000"/>
                </a:solidFill>
                <a:latin typeface="Canva Sans"/>
                <a:ea typeface="Canva Sans"/>
                <a:cs typeface="Canva Sans"/>
                <a:sym typeface="Canva Sans"/>
              </a:rPr>
              <a:t>Automatically captures and sends a .jpg photo of the target</a:t>
            </a:r>
          </a:p>
          <a:p>
            <a:pPr marL="647705" lvl="1" indent="-323852" algn="l">
              <a:lnSpc>
                <a:spcPts val="4200"/>
              </a:lnSpc>
              <a:buFont typeface="Arial"/>
              <a:buChar char="•"/>
            </a:pPr>
            <a:r>
              <a:rPr lang="en-US" sz="3000">
                <a:solidFill>
                  <a:srgbClr val="000000"/>
                </a:solidFill>
                <a:latin typeface="Canva Sans"/>
                <a:ea typeface="Canva Sans"/>
                <a:cs typeface="Canva Sans"/>
                <a:sym typeface="Canva Sans"/>
              </a:rPr>
              <a:t>Enables remote operator awareness even when away from the system</a:t>
            </a:r>
          </a:p>
          <a:p>
            <a:pPr algn="l">
              <a:lnSpc>
                <a:spcPts val="4200"/>
              </a:lnSpc>
            </a:pPr>
            <a:r>
              <a:rPr lang="en-US" sz="3000">
                <a:solidFill>
                  <a:srgbClr val="000000"/>
                </a:solidFill>
                <a:latin typeface="Canva Sans"/>
                <a:ea typeface="Canva Sans"/>
                <a:cs typeface="Canva Sans"/>
                <a:sym typeface="Canva Sans"/>
              </a:rPr>
              <a:t>How it works (from your code):</a:t>
            </a:r>
          </a:p>
          <a:p>
            <a:pPr algn="l">
              <a:lnSpc>
                <a:spcPts val="4200"/>
              </a:lnSpc>
            </a:pPr>
            <a:endParaRPr lang="en-US" sz="3000">
              <a:solidFill>
                <a:srgbClr val="000000"/>
              </a:solidFill>
              <a:latin typeface="Canva Sans"/>
              <a:ea typeface="Canva Sans"/>
              <a:cs typeface="Canva Sans"/>
              <a:sym typeface="Canva Sans"/>
            </a:endParaRPr>
          </a:p>
          <a:p>
            <a:pPr algn="l">
              <a:lnSpc>
                <a:spcPts val="3360"/>
              </a:lnSpc>
            </a:pPr>
            <a:r>
              <a:rPr lang="en-US" sz="2400">
                <a:solidFill>
                  <a:srgbClr val="000000"/>
                </a:solidFill>
                <a:latin typeface="Canva Sans"/>
                <a:ea typeface="Canva Sans"/>
                <a:cs typeface="Canva Sans"/>
                <a:sym typeface="Canva Sans"/>
              </a:rPr>
              <a:t>TARGET DETECTED → FIRE CONFIRMED</a:t>
            </a:r>
          </a:p>
          <a:p>
            <a:pPr algn="l">
              <a:lnSpc>
                <a:spcPts val="3360"/>
              </a:lnSpc>
            </a:pPr>
            <a:r>
              <a:rPr lang="en-US" sz="2400">
                <a:solidFill>
                  <a:srgbClr val="000000"/>
                </a:solidFill>
                <a:latin typeface="Canva Sans"/>
                <a:ea typeface="Canva Sans"/>
                <a:cs typeface="Canva Sans"/>
                <a:sym typeface="Canva Sans"/>
              </a:rPr>
              <a:t>       ↓</a:t>
            </a:r>
          </a:p>
          <a:p>
            <a:pPr algn="l">
              <a:lnSpc>
                <a:spcPts val="3360"/>
              </a:lnSpc>
            </a:pPr>
            <a:r>
              <a:rPr lang="en-US" sz="2400">
                <a:solidFill>
                  <a:srgbClr val="000000"/>
                </a:solidFill>
                <a:latin typeface="Canva Sans"/>
                <a:ea typeface="Canva Sans"/>
                <a:cs typeface="Canva Sans"/>
                <a:sym typeface="Canva Sans"/>
              </a:rPr>
              <a:t>save target_{timestamp}.jpg</a:t>
            </a:r>
          </a:p>
          <a:p>
            <a:pPr algn="l">
              <a:lnSpc>
                <a:spcPts val="3360"/>
              </a:lnSpc>
            </a:pPr>
            <a:r>
              <a:rPr lang="en-US" sz="2400">
                <a:solidFill>
                  <a:srgbClr val="000000"/>
                </a:solidFill>
                <a:latin typeface="Canva Sans"/>
                <a:ea typeface="Canva Sans"/>
                <a:cs typeface="Canva Sans"/>
                <a:sym typeface="Canva Sans"/>
              </a:rPr>
              <a:t>       ↓</a:t>
            </a:r>
          </a:p>
          <a:p>
            <a:pPr algn="l">
              <a:lnSpc>
                <a:spcPts val="3360"/>
              </a:lnSpc>
            </a:pPr>
            <a:r>
              <a:rPr lang="en-US" sz="2400">
                <a:solidFill>
                  <a:srgbClr val="000000"/>
                </a:solidFill>
                <a:latin typeface="Canva Sans"/>
                <a:ea typeface="Canva Sans"/>
                <a:cs typeface="Canva Sans"/>
                <a:sym typeface="Canva Sans"/>
              </a:rPr>
              <a:t>POST /sendMessage  →  "🚨 TARGET ELIMINATED"</a:t>
            </a:r>
          </a:p>
          <a:p>
            <a:pPr algn="l">
              <a:lnSpc>
                <a:spcPts val="3360"/>
              </a:lnSpc>
            </a:pPr>
            <a:r>
              <a:rPr lang="en-US" sz="2400">
                <a:solidFill>
                  <a:srgbClr val="000000"/>
                </a:solidFill>
                <a:latin typeface="Canva Sans"/>
                <a:ea typeface="Canva Sans"/>
                <a:cs typeface="Canva Sans"/>
                <a:sym typeface="Canva Sans"/>
              </a:rPr>
              <a:t>POST /sendPhoto    →  Target image attached</a:t>
            </a:r>
          </a:p>
          <a:p>
            <a:pPr algn="l">
              <a:lnSpc>
                <a:spcPts val="3360"/>
              </a:lnSpc>
            </a:pPr>
            <a:endParaRPr lang="en-US" sz="2400">
              <a:solidFill>
                <a:srgbClr val="000000"/>
              </a:solidFill>
              <a:latin typeface="Canva Sans"/>
              <a:ea typeface="Canva Sans"/>
              <a:cs typeface="Canva Sans"/>
              <a:sym typeface="Canva Sans"/>
            </a:endParaRPr>
          </a:p>
          <a:p>
            <a:pPr algn="l">
              <a:lnSpc>
                <a:spcPts val="4200"/>
              </a:lnSpc>
            </a:pPr>
            <a:r>
              <a:rPr lang="en-US" sz="3000">
                <a:solidFill>
                  <a:srgbClr val="000000"/>
                </a:solidFill>
                <a:latin typeface="Canva Sans"/>
                <a:ea typeface="Canva Sans"/>
                <a:cs typeface="Canva Sans"/>
                <a:sym typeface="Canva Sans"/>
              </a:rPr>
              <a:t>Why it matters: Adds a real cyber-physical systems layer — physical event triggers digital notification, closing the CPS feedback loop your course focuses on.</a:t>
            </a:r>
          </a:p>
          <a:p>
            <a:pPr algn="l">
              <a:lnSpc>
                <a:spcPts val="4200"/>
              </a:lnSpc>
            </a:pPr>
            <a:endParaRPr lang="en-US" sz="3000">
              <a:solidFill>
                <a:srgbClr val="000000"/>
              </a:solidFill>
              <a:latin typeface="Canva Sans"/>
              <a:ea typeface="Canva Sans"/>
              <a:cs typeface="Canva Sans"/>
              <a:sym typeface="Canva Sans"/>
            </a:endParaRPr>
          </a:p>
          <a:p>
            <a:pPr algn="l">
              <a:lnSpc>
                <a:spcPts val="4200"/>
              </a:lnSpc>
            </a:pPr>
            <a:endParaRPr lang="en-US" sz="3000">
              <a:solidFill>
                <a:srgbClr val="000000"/>
              </a:solidFill>
              <a:latin typeface="Canva Sans"/>
              <a:ea typeface="Canva Sans"/>
              <a:cs typeface="Canva Sans"/>
              <a:sym typeface="Canva Sans"/>
            </a:endParaRP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19</a:t>
            </a:r>
          </a:p>
        </p:txBody>
      </p:sp>
      <p:grpSp>
        <p:nvGrpSpPr>
          <p:cNvPr id="5" name="Group 5"/>
          <p:cNvGrpSpPr/>
          <p:nvPr/>
        </p:nvGrpSpPr>
        <p:grpSpPr>
          <a:xfrm>
            <a:off x="-194305" y="-225953"/>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a:off x="4404549" y="9725746"/>
            <a:ext cx="14052410" cy="873514"/>
            <a:chOff x="0" y="0"/>
            <a:chExt cx="3701046" cy="230061"/>
          </a:xfrm>
        </p:grpSpPr>
        <p:sp>
          <p:nvSpPr>
            <p:cNvPr id="9" name="Freeform 9"/>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10" name="TextBox 10"/>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1969402" y="1908764"/>
            <a:ext cx="13628874" cy="7651161"/>
          </a:xfrm>
          <a:custGeom>
            <a:avLst/>
            <a:gdLst/>
            <a:ahLst/>
            <a:cxnLst/>
            <a:rect l="l" t="t" r="r" b="b"/>
            <a:pathLst>
              <a:path w="13628874" h="7651161">
                <a:moveTo>
                  <a:pt x="0" y="0"/>
                </a:moveTo>
                <a:lnTo>
                  <a:pt x="13628874" y="0"/>
                </a:lnTo>
                <a:lnTo>
                  <a:pt x="13628874" y="7651161"/>
                </a:lnTo>
                <a:lnTo>
                  <a:pt x="0" y="7651161"/>
                </a:lnTo>
                <a:lnTo>
                  <a:pt x="0" y="0"/>
                </a:lnTo>
                <a:close/>
              </a:path>
            </a:pathLst>
          </a:custGeom>
          <a:blipFill>
            <a:blip r:embed="rId2"/>
            <a:stretch>
              <a:fillRect t="-3982"/>
            </a:stretch>
          </a:blipFill>
        </p:spPr>
      </p:sp>
      <p:sp>
        <p:nvSpPr>
          <p:cNvPr id="9" name="Freeform 9"/>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3">
              <a:alphaModFix amt="9999"/>
            </a:blip>
            <a:stretch>
              <a:fillRect t="-3860" b="-3860"/>
            </a:stretch>
          </a:blipFill>
        </p:spPr>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20</a:t>
            </a:r>
          </a:p>
        </p:txBody>
      </p:sp>
      <p:sp>
        <p:nvSpPr>
          <p:cNvPr id="11" name="TextBox 11"/>
          <p:cNvSpPr txBox="1"/>
          <p:nvPr/>
        </p:nvSpPr>
        <p:spPr>
          <a:xfrm>
            <a:off x="-1037120" y="322537"/>
            <a:ext cx="9029714" cy="3001004"/>
          </a:xfrm>
          <a:prstGeom prst="rect">
            <a:avLst/>
          </a:prstGeom>
        </p:spPr>
        <p:txBody>
          <a:bodyPr lIns="0" tIns="0" rIns="0" bIns="0" rtlCol="0" anchor="t">
            <a:spAutoFit/>
          </a:bodyPr>
          <a:lstStyle/>
          <a:p>
            <a:pPr algn="ctr">
              <a:lnSpc>
                <a:spcPts val="12040"/>
              </a:lnSpc>
            </a:pPr>
            <a:r>
              <a:rPr lang="en-US" sz="8600">
                <a:solidFill>
                  <a:srgbClr val="000000"/>
                </a:solidFill>
                <a:latin typeface="Bricolage Grotesque"/>
                <a:ea typeface="Bricolage Grotesque"/>
                <a:cs typeface="Bricolage Grotesque"/>
                <a:sym typeface="Bricolage Grotesque"/>
              </a:rPr>
              <a:t>RADAR</a:t>
            </a:r>
          </a:p>
          <a:p>
            <a:pPr algn="ctr">
              <a:lnSpc>
                <a:spcPts val="12040"/>
              </a:lnSpc>
              <a:spcBef>
                <a:spcPct val="0"/>
              </a:spcBef>
            </a:pPr>
            <a:endParaRPr lang="en-US" sz="8600">
              <a:solidFill>
                <a:srgbClr val="000000"/>
              </a:solidFill>
              <a:latin typeface="Bricolage Grotesque"/>
              <a:ea typeface="Bricolage Grotesque"/>
              <a:cs typeface="Bricolage Grotesque"/>
              <a:sym typeface="Bricolage Grotesque"/>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21</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4404549" y="9725746"/>
            <a:ext cx="14052410" cy="873514"/>
            <a:chOff x="0" y="0"/>
            <a:chExt cx="3701046" cy="230061"/>
          </a:xfrm>
        </p:grpSpPr>
        <p:sp>
          <p:nvSpPr>
            <p:cNvPr id="7" name="Freeform 7"/>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8" name="TextBox 8"/>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9" name="TextBox 9"/>
          <p:cNvSpPr txBox="1"/>
          <p:nvPr/>
        </p:nvSpPr>
        <p:spPr>
          <a:xfrm>
            <a:off x="20887" y="624910"/>
            <a:ext cx="5470093" cy="1477004"/>
          </a:xfrm>
          <a:prstGeom prst="rect">
            <a:avLst/>
          </a:prstGeom>
        </p:spPr>
        <p:txBody>
          <a:bodyPr lIns="0" tIns="0" rIns="0" bIns="0" rtlCol="0" anchor="t">
            <a:spAutoFit/>
          </a:bodyPr>
          <a:lstStyle/>
          <a:p>
            <a:pPr algn="ctr">
              <a:lnSpc>
                <a:spcPts val="12040"/>
              </a:lnSpc>
              <a:spcBef>
                <a:spcPct val="0"/>
              </a:spcBef>
            </a:pPr>
            <a:r>
              <a:rPr lang="en-US" sz="8600">
                <a:solidFill>
                  <a:srgbClr val="000000"/>
                </a:solidFill>
                <a:latin typeface="Bricolage Grotesque"/>
                <a:ea typeface="Bricolage Grotesque"/>
                <a:cs typeface="Bricolage Grotesque"/>
                <a:sym typeface="Bricolage Grotesque"/>
              </a:rPr>
              <a:t>Results</a:t>
            </a:r>
          </a:p>
        </p:txBody>
      </p:sp>
      <p:sp>
        <p:nvSpPr>
          <p:cNvPr id="10" name="TextBox 10"/>
          <p:cNvSpPr txBox="1"/>
          <p:nvPr/>
        </p:nvSpPr>
        <p:spPr>
          <a:xfrm>
            <a:off x="742680" y="2025714"/>
            <a:ext cx="16082318" cy="5763260"/>
          </a:xfrm>
          <a:prstGeom prst="rect">
            <a:avLst/>
          </a:prstGeom>
        </p:spPr>
        <p:txBody>
          <a:bodyPr lIns="0" tIns="0" rIns="0" bIns="0" rtlCol="0" anchor="t">
            <a:spAutoFit/>
          </a:bodyPr>
          <a:lstStyle/>
          <a:p>
            <a:pPr marL="885191" lvl="1" indent="-442595" algn="l">
              <a:lnSpc>
                <a:spcPts val="5740"/>
              </a:lnSpc>
              <a:buFont typeface="Arial"/>
              <a:buChar char="•"/>
            </a:pPr>
            <a:r>
              <a:rPr lang="en-US" sz="4100">
                <a:solidFill>
                  <a:srgbClr val="000000"/>
                </a:solidFill>
                <a:latin typeface="Canva Sans"/>
                <a:ea typeface="Canva Sans"/>
                <a:cs typeface="Canva Sans"/>
                <a:sym typeface="Canva Sans"/>
              </a:rPr>
              <a:t>System successfully detects:</a:t>
            </a:r>
          </a:p>
          <a:p>
            <a:pPr marL="885191" lvl="1" indent="-442595" algn="l">
              <a:lnSpc>
                <a:spcPts val="5740"/>
              </a:lnSpc>
              <a:buFont typeface="Arial"/>
              <a:buChar char="•"/>
            </a:pPr>
            <a:r>
              <a:rPr lang="en-US" sz="4100">
                <a:solidFill>
                  <a:srgbClr val="000000"/>
                </a:solidFill>
                <a:latin typeface="Canva Sans"/>
                <a:ea typeface="Canva Sans"/>
                <a:cs typeface="Canva Sans"/>
                <a:sym typeface="Canva Sans"/>
              </a:rPr>
              <a:t>Mobile Phones</a:t>
            </a:r>
          </a:p>
          <a:p>
            <a:pPr marL="885191" lvl="1" indent="-442595" algn="l">
              <a:lnSpc>
                <a:spcPts val="5740"/>
              </a:lnSpc>
              <a:buFont typeface="Arial"/>
              <a:buChar char="•"/>
            </a:pPr>
            <a:r>
              <a:rPr lang="en-US" sz="4100">
                <a:solidFill>
                  <a:srgbClr val="000000"/>
                </a:solidFill>
                <a:latin typeface="Canva Sans"/>
                <a:ea typeface="Canva Sans"/>
                <a:cs typeface="Canva Sans"/>
                <a:sym typeface="Canva Sans"/>
              </a:rPr>
              <a:t>ID Cards</a:t>
            </a:r>
          </a:p>
          <a:p>
            <a:pPr marL="885191" lvl="1" indent="-442595" algn="l">
              <a:lnSpc>
                <a:spcPts val="5740"/>
              </a:lnSpc>
              <a:buFont typeface="Arial"/>
              <a:buChar char="•"/>
            </a:pPr>
            <a:r>
              <a:rPr lang="en-US" sz="4100">
                <a:solidFill>
                  <a:srgbClr val="000000"/>
                </a:solidFill>
                <a:latin typeface="Canva Sans"/>
                <a:ea typeface="Canva Sans"/>
                <a:cs typeface="Canva Sans"/>
                <a:sym typeface="Canva Sans"/>
              </a:rPr>
              <a:t>Water Bottles</a:t>
            </a:r>
          </a:p>
          <a:p>
            <a:pPr marL="885191" lvl="1" indent="-442595" algn="l">
              <a:lnSpc>
                <a:spcPts val="5740"/>
              </a:lnSpc>
              <a:buFont typeface="Arial"/>
              <a:buChar char="•"/>
            </a:pPr>
            <a:r>
              <a:rPr lang="en-US" sz="4100">
                <a:solidFill>
                  <a:srgbClr val="000000"/>
                </a:solidFill>
                <a:latin typeface="Canva Sans"/>
                <a:ea typeface="Canva Sans"/>
                <a:cs typeface="Canva Sans"/>
                <a:sym typeface="Canva Sans"/>
              </a:rPr>
              <a:t>Advantages</a:t>
            </a:r>
          </a:p>
          <a:p>
            <a:pPr marL="885191" lvl="1" indent="-442595" algn="l">
              <a:lnSpc>
                <a:spcPts val="5740"/>
              </a:lnSpc>
              <a:buFont typeface="Arial"/>
              <a:buChar char="•"/>
            </a:pPr>
            <a:r>
              <a:rPr lang="en-US" sz="4100">
                <a:solidFill>
                  <a:srgbClr val="000000"/>
                </a:solidFill>
                <a:latin typeface="Canva Sans"/>
                <a:ea typeface="Canva Sans"/>
                <a:cs typeface="Canva Sans"/>
                <a:sym typeface="Canva Sans"/>
              </a:rPr>
              <a:t>More accurate than ultrasonic-only system</a:t>
            </a:r>
          </a:p>
          <a:p>
            <a:pPr marL="885191" lvl="1" indent="-442595" algn="l">
              <a:lnSpc>
                <a:spcPts val="5740"/>
              </a:lnSpc>
              <a:buFont typeface="Arial"/>
              <a:buChar char="•"/>
            </a:pPr>
            <a:r>
              <a:rPr lang="en-US" sz="4100">
                <a:solidFill>
                  <a:srgbClr val="000000"/>
                </a:solidFill>
                <a:latin typeface="Canva Sans"/>
                <a:ea typeface="Canva Sans"/>
                <a:cs typeface="Canva Sans"/>
                <a:sym typeface="Canva Sans"/>
              </a:rPr>
              <a:t>Vision-based detection</a:t>
            </a:r>
          </a:p>
          <a:p>
            <a:pPr marL="885191" lvl="1" indent="-442595" algn="l">
              <a:lnSpc>
                <a:spcPts val="5740"/>
              </a:lnSpc>
              <a:buFont typeface="Arial"/>
              <a:buChar char="•"/>
            </a:pPr>
            <a:r>
              <a:rPr lang="en-US" sz="4100">
                <a:solidFill>
                  <a:srgbClr val="000000"/>
                </a:solidFill>
                <a:latin typeface="Canva Sans"/>
                <a:ea typeface="Canva Sans"/>
                <a:cs typeface="Canva Sans"/>
                <a:sym typeface="Canva Sans"/>
              </a:rPr>
              <a:t>User controlled firing</a:t>
            </a:r>
          </a:p>
        </p:txBody>
      </p:sp>
      <p:sp>
        <p:nvSpPr>
          <p:cNvPr id="11" name="Freeform 11"/>
          <p:cNvSpPr/>
          <p:nvPr/>
        </p:nvSpPr>
        <p:spPr>
          <a:xfrm>
            <a:off x="1383836" y="3293057"/>
            <a:ext cx="12855768" cy="3102938"/>
          </a:xfrm>
          <a:custGeom>
            <a:avLst/>
            <a:gdLst/>
            <a:ahLst/>
            <a:cxnLst/>
            <a:rect l="l" t="t" r="r" b="b"/>
            <a:pathLst>
              <a:path w="12855768" h="3102938">
                <a:moveTo>
                  <a:pt x="0" y="0"/>
                </a:moveTo>
                <a:lnTo>
                  <a:pt x="12855768" y="0"/>
                </a:lnTo>
                <a:lnTo>
                  <a:pt x="12855768" y="3102938"/>
                </a:lnTo>
                <a:lnTo>
                  <a:pt x="0" y="3102938"/>
                </a:lnTo>
                <a:lnTo>
                  <a:pt x="0" y="0"/>
                </a:lnTo>
                <a:close/>
              </a:path>
            </a:pathLst>
          </a:custGeom>
          <a:blipFill>
            <a:blip r:embed="rId2">
              <a:alphaModFix amt="9999"/>
            </a:blip>
            <a:stretch>
              <a:fillRect t="-3860" b="-3860"/>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22</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4404549" y="9725746"/>
            <a:ext cx="14052410" cy="873514"/>
            <a:chOff x="0" y="0"/>
            <a:chExt cx="3701046" cy="230061"/>
          </a:xfrm>
        </p:grpSpPr>
        <p:sp>
          <p:nvSpPr>
            <p:cNvPr id="7" name="Freeform 7"/>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8" name="TextBox 8"/>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9" name="TextBox 9"/>
          <p:cNvSpPr txBox="1"/>
          <p:nvPr/>
        </p:nvSpPr>
        <p:spPr>
          <a:xfrm>
            <a:off x="20887" y="634435"/>
            <a:ext cx="18267113" cy="1377940"/>
          </a:xfrm>
          <a:prstGeom prst="rect">
            <a:avLst/>
          </a:prstGeom>
        </p:spPr>
        <p:txBody>
          <a:bodyPr lIns="0" tIns="0" rIns="0" bIns="0" rtlCol="0" anchor="t">
            <a:spAutoFit/>
          </a:bodyPr>
          <a:lstStyle/>
          <a:p>
            <a:pPr algn="ctr">
              <a:lnSpc>
                <a:spcPts val="11200"/>
              </a:lnSpc>
              <a:spcBef>
                <a:spcPct val="0"/>
              </a:spcBef>
            </a:pPr>
            <a:r>
              <a:rPr lang="en-US" sz="8000">
                <a:solidFill>
                  <a:srgbClr val="000000"/>
                </a:solidFill>
                <a:latin typeface="Bricolage Grotesque"/>
                <a:ea typeface="Bricolage Grotesque"/>
                <a:cs typeface="Bricolage Grotesque"/>
                <a:sym typeface="Bricolage Grotesque"/>
              </a:rPr>
              <a:t>Limitations &amp; Future Enhancements</a:t>
            </a:r>
          </a:p>
        </p:txBody>
      </p:sp>
      <p:sp>
        <p:nvSpPr>
          <p:cNvPr id="10" name="TextBox 10"/>
          <p:cNvSpPr txBox="1"/>
          <p:nvPr/>
        </p:nvSpPr>
        <p:spPr>
          <a:xfrm>
            <a:off x="742680" y="2035239"/>
            <a:ext cx="16082318" cy="7781289"/>
          </a:xfrm>
          <a:prstGeom prst="rect">
            <a:avLst/>
          </a:prstGeom>
        </p:spPr>
        <p:txBody>
          <a:bodyPr lIns="0" tIns="0" rIns="0" bIns="0" rtlCol="0" anchor="t">
            <a:spAutoFit/>
          </a:bodyPr>
          <a:lstStyle/>
          <a:p>
            <a:pPr algn="l">
              <a:lnSpc>
                <a:spcPts val="4760"/>
              </a:lnSpc>
            </a:pPr>
            <a:r>
              <a:rPr lang="en-US" sz="3400">
                <a:solidFill>
                  <a:srgbClr val="000000"/>
                </a:solidFill>
                <a:latin typeface="Canva Sans"/>
                <a:ea typeface="Canva Sans"/>
                <a:cs typeface="Canva Sans"/>
                <a:sym typeface="Canva Sans"/>
              </a:rPr>
              <a:t>Limitations:</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Detection accuracy drops in low-light or occluded conditions</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YOLO runs on CPU — causes latency (~200-400ms per frame)</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Fixed camera FOV limits detection range</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System depends on USB serial; wireless control not yet implemented</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Custom-trained model (best.pt) still needs more training data for ID cards</a:t>
            </a:r>
          </a:p>
          <a:p>
            <a:pPr algn="l">
              <a:lnSpc>
                <a:spcPts val="4760"/>
              </a:lnSpc>
            </a:pPr>
            <a:r>
              <a:rPr lang="en-US" sz="3400">
                <a:solidFill>
                  <a:srgbClr val="000000"/>
                </a:solidFill>
                <a:latin typeface="Canva Sans"/>
                <a:ea typeface="Canva Sans"/>
                <a:cs typeface="Canva Sans"/>
                <a:sym typeface="Canva Sans"/>
              </a:rPr>
              <a:t>Future Enhancements:</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GPU acceleration (your gpu.py already checks for CUDA — wire it in!)</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Pan-tilt dual-axis servo for full 2D tracking</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Upgrade to custom-trained YOLOv11 model replacing COCO classes</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Add night-vision / IR camera support</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Expand Telegram integration to include live video stream alerts</a:t>
            </a:r>
          </a:p>
          <a:p>
            <a:pPr algn="l">
              <a:lnSpc>
                <a:spcPts val="4760"/>
              </a:lnSpc>
            </a:pPr>
            <a:endParaRPr lang="en-US" sz="3400">
              <a:solidFill>
                <a:srgbClr val="000000"/>
              </a:solidFill>
              <a:latin typeface="Canva Sans"/>
              <a:ea typeface="Canva Sans"/>
              <a:cs typeface="Canva Sans"/>
              <a:sym typeface="Canva Sans"/>
            </a:endParaRPr>
          </a:p>
        </p:txBody>
      </p:sp>
      <p:sp>
        <p:nvSpPr>
          <p:cNvPr id="11" name="Freeform 11"/>
          <p:cNvSpPr/>
          <p:nvPr/>
        </p:nvSpPr>
        <p:spPr>
          <a:xfrm>
            <a:off x="1383836" y="3293057"/>
            <a:ext cx="12855768" cy="3102938"/>
          </a:xfrm>
          <a:custGeom>
            <a:avLst/>
            <a:gdLst/>
            <a:ahLst/>
            <a:cxnLst/>
            <a:rect l="l" t="t" r="r" b="b"/>
            <a:pathLst>
              <a:path w="12855768" h="3102938">
                <a:moveTo>
                  <a:pt x="0" y="0"/>
                </a:moveTo>
                <a:lnTo>
                  <a:pt x="12855768" y="0"/>
                </a:lnTo>
                <a:lnTo>
                  <a:pt x="12855768" y="3102938"/>
                </a:lnTo>
                <a:lnTo>
                  <a:pt x="0" y="3102938"/>
                </a:lnTo>
                <a:lnTo>
                  <a:pt x="0" y="0"/>
                </a:lnTo>
                <a:close/>
              </a:path>
            </a:pathLst>
          </a:custGeom>
          <a:blipFill>
            <a:blip r:embed="rId2">
              <a:alphaModFix amt="9999"/>
            </a:blip>
            <a:stretch>
              <a:fillRect t="-3860" b="-3860"/>
            </a:stretch>
          </a:blipFill>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23</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4404549" y="9725746"/>
            <a:ext cx="14052410" cy="873514"/>
            <a:chOff x="0" y="0"/>
            <a:chExt cx="3701046" cy="230061"/>
          </a:xfrm>
        </p:grpSpPr>
        <p:sp>
          <p:nvSpPr>
            <p:cNvPr id="7" name="Freeform 7"/>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8" name="TextBox 8"/>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9" name="TextBox 9"/>
          <p:cNvSpPr txBox="1"/>
          <p:nvPr/>
        </p:nvSpPr>
        <p:spPr>
          <a:xfrm>
            <a:off x="-3788156" y="476111"/>
            <a:ext cx="14438638" cy="1477004"/>
          </a:xfrm>
          <a:prstGeom prst="rect">
            <a:avLst/>
          </a:prstGeom>
        </p:spPr>
        <p:txBody>
          <a:bodyPr lIns="0" tIns="0" rIns="0" bIns="0" rtlCol="0" anchor="t">
            <a:spAutoFit/>
          </a:bodyPr>
          <a:lstStyle/>
          <a:p>
            <a:pPr algn="ctr">
              <a:lnSpc>
                <a:spcPts val="12040"/>
              </a:lnSpc>
              <a:spcBef>
                <a:spcPct val="0"/>
              </a:spcBef>
            </a:pPr>
            <a:r>
              <a:rPr lang="en-US" sz="8600">
                <a:solidFill>
                  <a:srgbClr val="000000"/>
                </a:solidFill>
                <a:latin typeface="Bricolage Grotesque"/>
                <a:ea typeface="Bricolage Grotesque"/>
                <a:cs typeface="Bricolage Grotesque"/>
                <a:sym typeface="Bricolage Grotesque"/>
              </a:rPr>
              <a:t>Conclusion</a:t>
            </a:r>
          </a:p>
        </p:txBody>
      </p:sp>
      <p:sp>
        <p:nvSpPr>
          <p:cNvPr id="10" name="TextBox 10"/>
          <p:cNvSpPr txBox="1"/>
          <p:nvPr/>
        </p:nvSpPr>
        <p:spPr>
          <a:xfrm>
            <a:off x="742680" y="1781810"/>
            <a:ext cx="16082318" cy="6647180"/>
          </a:xfrm>
          <a:prstGeom prst="rect">
            <a:avLst/>
          </a:prstGeom>
        </p:spPr>
        <p:txBody>
          <a:bodyPr lIns="0" tIns="0" rIns="0" bIns="0" rtlCol="0" anchor="t">
            <a:spAutoFit/>
          </a:bodyPr>
          <a:lstStyle/>
          <a:p>
            <a:pPr algn="l">
              <a:lnSpc>
                <a:spcPts val="5320"/>
              </a:lnSpc>
            </a:pPr>
            <a:r>
              <a:rPr lang="en-US" sz="3800">
                <a:solidFill>
                  <a:srgbClr val="000000"/>
                </a:solidFill>
                <a:latin typeface="Canva Sans"/>
                <a:ea typeface="Canva Sans"/>
                <a:cs typeface="Canva Sans"/>
                <a:sym typeface="Canva Sans"/>
              </a:rPr>
              <a:t>The proposed system integrates YOLOv11-based object detection with a camera module and servo control to create an improved smart detection mechanism. The system successfully identifies specific objects such as mobile phones, ID cards, and water bottles in real time. Compared to the previous ultrasonic-only system, this approach provides more accurate and intelligent detection. The addition of a manual shoot button ensures better control and safety during operation. Overall, the project demonstrates the effectiveness of combining AI-based vision systems with embedded hardware for security applications.</a:t>
            </a:r>
          </a:p>
        </p:txBody>
      </p:sp>
      <p:sp>
        <p:nvSpPr>
          <p:cNvPr id="11" name="Freeform 11"/>
          <p:cNvSpPr/>
          <p:nvPr/>
        </p:nvSpPr>
        <p:spPr>
          <a:xfrm>
            <a:off x="1383836" y="3293057"/>
            <a:ext cx="12855768" cy="3102938"/>
          </a:xfrm>
          <a:custGeom>
            <a:avLst/>
            <a:gdLst/>
            <a:ahLst/>
            <a:cxnLst/>
            <a:rect l="l" t="t" r="r" b="b"/>
            <a:pathLst>
              <a:path w="12855768" h="3102938">
                <a:moveTo>
                  <a:pt x="0" y="0"/>
                </a:moveTo>
                <a:lnTo>
                  <a:pt x="12855768" y="0"/>
                </a:lnTo>
                <a:lnTo>
                  <a:pt x="12855768" y="3102938"/>
                </a:lnTo>
                <a:lnTo>
                  <a:pt x="0" y="3102938"/>
                </a:lnTo>
                <a:lnTo>
                  <a:pt x="0" y="0"/>
                </a:lnTo>
                <a:close/>
              </a:path>
            </a:pathLst>
          </a:custGeom>
          <a:blipFill>
            <a:blip r:embed="rId2">
              <a:alphaModFix amt="9999"/>
            </a:blip>
            <a:stretch>
              <a:fillRect t="-3860" b="-3860"/>
            </a:stretch>
          </a:blipFill>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870204" y="4035928"/>
            <a:ext cx="12547592" cy="1609725"/>
          </a:xfrm>
          <a:prstGeom prst="rect">
            <a:avLst/>
          </a:prstGeom>
        </p:spPr>
        <p:txBody>
          <a:bodyPr lIns="0" tIns="0" rIns="0" bIns="0" rtlCol="0" anchor="t">
            <a:spAutoFit/>
          </a:bodyPr>
          <a:lstStyle/>
          <a:p>
            <a:pPr algn="ctr">
              <a:lnSpc>
                <a:spcPts val="12000"/>
              </a:lnSpc>
            </a:pPr>
            <a:r>
              <a:rPr lang="en-US" sz="12000" spc="-480">
                <a:solidFill>
                  <a:srgbClr val="36211B"/>
                </a:solidFill>
                <a:latin typeface="IBM Plex Serif"/>
                <a:ea typeface="IBM Plex Serif"/>
                <a:cs typeface="IBM Plex Serif"/>
                <a:sym typeface="IBM Plex Serif"/>
              </a:rPr>
              <a:t>THANK YOU </a:t>
            </a:r>
          </a:p>
        </p:txBody>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36211B"/>
                </a:solidFill>
                <a:latin typeface="Canva Sans"/>
                <a:ea typeface="Canva Sans"/>
                <a:cs typeface="Canva Sans"/>
                <a:sym typeface="Canva Sans"/>
              </a:rPr>
              <a:t>24</a:t>
            </a:r>
          </a:p>
        </p:txBody>
      </p:sp>
      <p:grpSp>
        <p:nvGrpSpPr>
          <p:cNvPr id="4" name="Group 4"/>
          <p:cNvGrpSpPr/>
          <p:nvPr/>
        </p:nvGrpSpPr>
        <p:grpSpPr>
          <a:xfrm>
            <a:off x="-194305" y="-225953"/>
            <a:ext cx="14052410" cy="873514"/>
            <a:chOff x="0" y="0"/>
            <a:chExt cx="3701046" cy="230061"/>
          </a:xfrm>
        </p:grpSpPr>
        <p:sp>
          <p:nvSpPr>
            <p:cNvPr id="5" name="Freeform 5"/>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6" name="TextBox 6"/>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7" name="Group 7"/>
          <p:cNvGrpSpPr/>
          <p:nvPr/>
        </p:nvGrpSpPr>
        <p:grpSpPr>
          <a:xfrm>
            <a:off x="4404549" y="9725746"/>
            <a:ext cx="14052410" cy="873514"/>
            <a:chOff x="0" y="0"/>
            <a:chExt cx="3701046" cy="230061"/>
          </a:xfrm>
        </p:grpSpPr>
        <p:sp>
          <p:nvSpPr>
            <p:cNvPr id="8" name="Freeform 8"/>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9" name="TextBox 9"/>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10" name="Freeform 10"/>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 Mid Project Review</dc:title>
  <cp:revision>9</cp:revision>
  <dcterms:created xsi:type="dcterms:W3CDTF">2006-08-16T00:00:00Z</dcterms:created>
  <dcterms:modified xsi:type="dcterms:W3CDTF">2026-09-29T10:05:48Z</dcterms:modified>
  <dc:identifier>DAG7OCxpLZU</dc:identifier>
</cp:coreProperties>
</file>